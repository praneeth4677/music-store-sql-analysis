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95" r:id="rId5"/>
    <p:sldId id="262" r:id="rId6"/>
    <p:sldId id="296" r:id="rId7"/>
    <p:sldId id="261" r:id="rId8"/>
    <p:sldId id="260" r:id="rId9"/>
    <p:sldId id="284" r:id="rId10"/>
    <p:sldId id="285" r:id="rId11"/>
    <p:sldId id="286" r:id="rId12"/>
    <p:sldId id="287" r:id="rId13"/>
    <p:sldId id="288" r:id="rId14"/>
    <p:sldId id="289" r:id="rId15"/>
    <p:sldId id="290" r:id="rId16"/>
    <p:sldId id="291" r:id="rId17"/>
    <p:sldId id="292" r:id="rId18"/>
    <p:sldId id="297" r:id="rId19"/>
    <p:sldId id="281" r:id="rId20"/>
    <p:sldId id="282" r:id="rId21"/>
    <p:sldId id="259" r:id="rId22"/>
  </p:sldIdLst>
  <p:sldSz cx="12192000" cy="6858000"/>
  <p:notesSz cx="6858000" cy="9144000"/>
  <p:embeddedFontLst>
    <p:embeddedFont>
      <p:font typeface="Lato Black" panose="020F0502020204030203" pitchFamily="34" charset="0"/>
      <p:bold r:id="rId24"/>
      <p:boldItalic r:id="rId25"/>
    </p:embeddedFont>
    <p:embeddedFont>
      <p:font typeface="Libre Baskerville" panose="020000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0" autoAdjust="0"/>
  </p:normalViewPr>
  <p:slideViewPr>
    <p:cSldViewPr snapToGrid="0">
      <p:cViewPr varScale="1">
        <p:scale>
          <a:sx n="80" d="100"/>
          <a:sy n="80"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533F061-3C78-4D3D-7816-BB978843C4F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2C97009B-DEBC-50C9-3D52-3EF244B69B7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7A933C18-2019-63DF-2E74-6DF795C68B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51240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9DB9E71-4873-E6A5-EF81-DF0E971E672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7920884-D794-75D7-05E0-1874B61A434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E38DB36-9C79-E62C-D0EB-2809FB8C80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844831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AF23962-F162-57FA-662D-64341820ABA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486584D-3C84-DD8D-3D80-59254B7FA8B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0015DE0E-95C6-AE4C-E011-959EA8F13A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39457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58FFE5-3646-ADE4-0709-C98B721966E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1331C3C-097C-8D8E-7923-B0310070C5C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7A3FE3F-5E4E-2A40-74D8-4CD8A03739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41358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B424CB7-E7B2-92DD-EE57-25206ED1E8F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CD3D2C3-4ECB-5B5F-08F8-92D192DFDB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4E37E46-3C4E-AF25-324B-372415F9C4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34350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669B90A-77A2-516E-F1C0-01F3AF452C5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EE78CF2C-822B-AAE9-B72D-8FBF2FE361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29AB85B-20AA-88D8-EE48-49F78BC37B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88957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4AA8885-2C61-EDD5-F453-F5EA75FD9C2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971D050-687E-A40F-AEF4-EDC7BE5DF4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B1D3DEF9-DB0C-99B1-5E29-2EF3A88DC6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16555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3AF07FA-F6B1-0B1A-9EB9-F45ED868723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FFFE3DE-25FF-CC72-432C-28147F5601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45718E6-17EA-096F-C77C-4BCE15585A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91602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088007D-EC88-FE98-1D7F-1E8C4B96430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D726DE2A-5BAB-53E3-8D88-4518E1997B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9B30D55E-05D7-6CAF-368D-643549A432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38817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7BA065E-A5C1-17ED-0FE1-23F6FF5A2AC8}"/>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89B252A-D098-408F-550A-9880A74C7E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C22DACF4-A72D-C4C4-559B-681A32E580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784529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4896E02-D2B5-ABA3-14ED-3A75D5F417B7}"/>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7229866-71F1-C2BA-18A6-390B88B0BB5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0B9DA34-EE29-6AB7-A071-CA0171CEBCE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8555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D235B961-29DE-CDBE-2940-9E1767E701A1}"/>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62BD14CB-8F9E-B681-0DCD-DD7F715DE1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2" name="Google Shape;102;p3:notes">
            <a:extLst>
              <a:ext uri="{FF2B5EF4-FFF2-40B4-BE49-F238E27FC236}">
                <a16:creationId xmlns:a16="http://schemas.microsoft.com/office/drawing/2014/main" id="{9392C4C0-AC1C-FA3B-AB61-D8C5FB10E9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721065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0DDC844A-8F9A-E1A5-132B-291391B69E9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5D49E7BC-E12F-8ADF-40AC-CB84886973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F280924D-876C-3421-7BD9-EAF595E161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52497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CC874A4-D437-C970-31A9-9C86686FDFB4}"/>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40302A0A-349C-42AE-5025-120245A78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4012BD57-5065-C72A-EE11-B21CD41B026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86186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nagapraneeth24/"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163902"/>
            <a:ext cx="12190815" cy="6694098"/>
          </a:xfrm>
          <a:prstGeom prst="rect">
            <a:avLst/>
          </a:prstGeom>
          <a:noFill/>
          <a:ln>
            <a:noFill/>
          </a:ln>
        </p:spPr>
      </p:pic>
      <p:sp>
        <p:nvSpPr>
          <p:cNvPr id="3" name="TextBox 2">
            <a:extLst>
              <a:ext uri="{FF2B5EF4-FFF2-40B4-BE49-F238E27FC236}">
                <a16:creationId xmlns:a16="http://schemas.microsoft.com/office/drawing/2014/main" id="{3C7D3EF6-3F7D-9B5C-EE93-4C1C86064FE7}"/>
              </a:ext>
            </a:extLst>
          </p:cNvPr>
          <p:cNvSpPr txBox="1"/>
          <p:nvPr/>
        </p:nvSpPr>
        <p:spPr>
          <a:xfrm>
            <a:off x="3046955" y="4505794"/>
            <a:ext cx="6093912" cy="523220"/>
          </a:xfrm>
          <a:prstGeom prst="rect">
            <a:avLst/>
          </a:prstGeom>
          <a:noFill/>
        </p:spPr>
        <p:txBody>
          <a:bodyPr wrap="square">
            <a:spAutoFit/>
          </a:bodyPr>
          <a:lstStyle/>
          <a:p>
            <a:r>
              <a:rPr lang="en-IN" sz="2800" b="1" dirty="0"/>
              <a:t>Music Store Management System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56531" y="967850"/>
            <a:ext cx="10144660" cy="1815841"/>
          </a:xfrm>
          <a:prstGeom prst="rect">
            <a:avLst/>
          </a:prstGeom>
          <a:noFill/>
          <a:ln>
            <a:noFill/>
          </a:ln>
        </p:spPr>
        <p:txBody>
          <a:bodyPr spcFirstLastPara="1" wrap="square" lIns="91425" tIns="45700" rIns="91425" bIns="45700" anchor="t" anchorCtr="0">
            <a:spAutoFit/>
          </a:bodyPr>
          <a:lstStyle/>
          <a:p>
            <a:pPr marR="0" lvl="0" algn="l" rtl="0">
              <a:lnSpc>
                <a:spcPct val="100000"/>
              </a:lnSpc>
              <a:spcBef>
                <a:spcPts val="0"/>
              </a:spcBef>
              <a:spcAft>
                <a:spcPts val="0"/>
              </a:spcAft>
              <a:buClr>
                <a:schemeClr val="dk1"/>
              </a:buClr>
              <a:buSzPts val="2400"/>
            </a:pPr>
            <a:r>
              <a:rPr lang="en-GB" sz="3200" b="1" dirty="0">
                <a:solidFill>
                  <a:schemeClr val="dk1"/>
                </a:solidFill>
                <a:latin typeface="Calibri"/>
                <a:ea typeface="Calibri"/>
                <a:cs typeface="Calibri"/>
                <a:sym typeface="Calibri"/>
              </a:rPr>
              <a:t>    </a:t>
            </a:r>
            <a:r>
              <a:rPr lang="en-GB" sz="3200" b="1" dirty="0" err="1">
                <a:solidFill>
                  <a:schemeClr val="dk1"/>
                </a:solidFill>
                <a:latin typeface="Calibri"/>
                <a:ea typeface="Calibri"/>
                <a:cs typeface="Calibri"/>
                <a:sym typeface="Calibri"/>
              </a:rPr>
              <a:t>A.Naga</a:t>
            </a:r>
            <a:r>
              <a:rPr lang="en-GB" sz="3200" b="1" dirty="0">
                <a:solidFill>
                  <a:schemeClr val="dk1"/>
                </a:solidFill>
                <a:latin typeface="Calibri"/>
                <a:ea typeface="Calibri"/>
                <a:cs typeface="Calibri"/>
                <a:sym typeface="Calibri"/>
              </a:rPr>
              <a:t> Praneeth </a:t>
            </a:r>
            <a:r>
              <a:rPr lang="en-GB" sz="3200" b="1" i="0" u="none" strike="noStrike" cap="none" dirty="0">
                <a:solidFill>
                  <a:schemeClr val="dk1"/>
                </a:solidFill>
                <a:latin typeface="Calibri"/>
                <a:ea typeface="Calibri"/>
                <a:cs typeface="Calibri"/>
                <a:sym typeface="Calibri"/>
              </a:rPr>
              <a:t>:- </a:t>
            </a:r>
            <a:r>
              <a:rPr lang="en-GB" sz="2400" i="0" u="none" strike="noStrike" cap="none" dirty="0">
                <a:solidFill>
                  <a:schemeClr val="dk1"/>
                </a:solidFill>
                <a:latin typeface="Calibri"/>
                <a:ea typeface="Calibri"/>
                <a:cs typeface="Calibri"/>
                <a:sym typeface="Calibri"/>
              </a:rPr>
              <a:t>Completed </a:t>
            </a:r>
            <a:r>
              <a:rPr lang="en-GB" sz="2400" dirty="0" err="1">
                <a:solidFill>
                  <a:schemeClr val="dk1"/>
                </a:solidFill>
                <a:latin typeface="Calibri"/>
                <a:ea typeface="Calibri"/>
                <a:cs typeface="Calibri"/>
                <a:sym typeface="Calibri"/>
              </a:rPr>
              <a:t>B.Tech</a:t>
            </a:r>
            <a:r>
              <a:rPr lang="en-GB" sz="2400" dirty="0">
                <a:solidFill>
                  <a:schemeClr val="dk1"/>
                </a:solidFill>
                <a:latin typeface="Calibri"/>
                <a:ea typeface="Calibri"/>
                <a:cs typeface="Calibri"/>
                <a:sym typeface="Calibri"/>
              </a:rPr>
              <a:t> in </a:t>
            </a:r>
            <a:r>
              <a:rPr lang="en-GB" sz="2400" i="0" u="none" strike="noStrike" cap="none" dirty="0">
                <a:solidFill>
                  <a:schemeClr val="dk1"/>
                </a:solidFill>
                <a:latin typeface="Calibri"/>
                <a:ea typeface="Calibri"/>
                <a:cs typeface="Calibri"/>
                <a:sym typeface="Calibri"/>
              </a:rPr>
              <a:t> IT</a:t>
            </a:r>
          </a:p>
          <a:p>
            <a:pPr marR="0" lvl="0" algn="l" rtl="0">
              <a:lnSpc>
                <a:spcPct val="100000"/>
              </a:lnSpc>
              <a:spcBef>
                <a:spcPts val="0"/>
              </a:spcBef>
              <a:spcAft>
                <a:spcPts val="0"/>
              </a:spcAft>
              <a:buClr>
                <a:schemeClr val="dk1"/>
              </a:buClr>
              <a:buSzPts val="2400"/>
            </a:pPr>
            <a:endParaRPr lang="en-GB" sz="2400" i="0" u="none" strike="noStrike" cap="none" dirty="0">
              <a:solidFill>
                <a:schemeClr val="dk1"/>
              </a:solidFill>
              <a:latin typeface="Calibri"/>
              <a:ea typeface="Calibri"/>
              <a:cs typeface="Calibri"/>
              <a:sym typeface="Calibri"/>
            </a:endParaRPr>
          </a:p>
          <a:p>
            <a:pPr lvl="0">
              <a:buClr>
                <a:schemeClr val="dk1"/>
              </a:buClr>
              <a:buSzPts val="2400"/>
            </a:pPr>
            <a:r>
              <a:rPr lang="en-GB" sz="2400" b="1" dirty="0">
                <a:solidFill>
                  <a:schemeClr val="dk1"/>
                </a:solidFill>
                <a:latin typeface="Calibri"/>
                <a:ea typeface="Calibri"/>
                <a:cs typeface="Calibri"/>
                <a:sym typeface="Calibri"/>
              </a:rPr>
              <a:t>       Linked in :- </a:t>
            </a:r>
            <a:r>
              <a:rPr lang="en-IN" sz="2400" dirty="0">
                <a:hlinkClick r:id="rId3"/>
              </a:rPr>
              <a:t>Naga Praneeth </a:t>
            </a:r>
            <a:r>
              <a:rPr lang="en-IN" sz="2400" dirty="0" err="1">
                <a:hlinkClick r:id="rId3"/>
              </a:rPr>
              <a:t>Ananthuneni</a:t>
            </a:r>
            <a:r>
              <a:rPr lang="en-IN" sz="2400" dirty="0">
                <a:hlinkClick r:id="rId3"/>
              </a:rPr>
              <a:t> | LinkedIn</a:t>
            </a:r>
            <a:endParaRPr lang="en-GB" sz="2400" b="1" dirty="0">
              <a:solidFill>
                <a:schemeClr val="dk1"/>
              </a:solidFill>
              <a:latin typeface="Calibri" panose="020F0502020204030204"/>
              <a:ea typeface="Calibri" panose="020F0502020204030204"/>
              <a:cs typeface="Calibri" panose="020F0502020204030204"/>
              <a:sym typeface="Calibri" panose="020F0502020204030204"/>
            </a:endParaRPr>
          </a:p>
          <a:p>
            <a:pPr marR="0" lvl="0" algn="l" rtl="0">
              <a:lnSpc>
                <a:spcPct val="100000"/>
              </a:lnSpc>
              <a:spcBef>
                <a:spcPts val="0"/>
              </a:spcBef>
              <a:spcAft>
                <a:spcPts val="0"/>
              </a:spcAft>
              <a:buClr>
                <a:schemeClr val="dk1"/>
              </a:buClr>
              <a:buSzPts val="2400"/>
            </a:pPr>
            <a:endParaRPr lang="en-GB" sz="32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Me</a:t>
            </a:r>
            <a:r>
              <a:rPr lang="en-IN" sz="3200" b="0" i="0" u="none" strike="noStrike" cap="none" dirty="0">
                <a:solidFill>
                  <a:srgbClr val="FF0000"/>
                </a:solidFill>
                <a:latin typeface="Lato Black"/>
                <a:ea typeface="Lato Black"/>
                <a:cs typeface="Lato Black"/>
                <a:sym typeface="Lato Black"/>
              </a:rPr>
              <a:t> :</a:t>
            </a:r>
            <a:r>
              <a:rPr lang="en-IN" sz="3200" dirty="0">
                <a:solidFill>
                  <a:srgbClr val="FF0000"/>
                </a:solidFill>
                <a:latin typeface="Lato Black"/>
                <a:ea typeface="Lato Black"/>
                <a:cs typeface="Lato Black"/>
                <a:sym typeface="Lato Black"/>
              </a:rPr>
              <a:t> </a:t>
            </a:r>
          </a:p>
        </p:txBody>
      </p:sp>
      <p:pic>
        <p:nvPicPr>
          <p:cNvPr id="3" name="Picture 2">
            <a:extLst>
              <a:ext uri="{FF2B5EF4-FFF2-40B4-BE49-F238E27FC236}">
                <a16:creationId xmlns:a16="http://schemas.microsoft.com/office/drawing/2014/main" id="{B8A2FB95-36F1-4FE4-B0E6-1B532D350F2B}"/>
              </a:ext>
            </a:extLst>
          </p:cNvPr>
          <p:cNvPicPr>
            <a:picLocks noChangeAspect="1"/>
          </p:cNvPicPr>
          <p:nvPr/>
        </p:nvPicPr>
        <p:blipFill>
          <a:blip r:embed="rId4"/>
          <a:stretch>
            <a:fillRect/>
          </a:stretch>
        </p:blipFill>
        <p:spPr>
          <a:xfrm>
            <a:off x="464088" y="1830856"/>
            <a:ext cx="469349" cy="469349"/>
          </a:xfrm>
          <a:prstGeom prst="rect">
            <a:avLst/>
          </a:prstGeom>
        </p:spPr>
      </p:pic>
      <p:cxnSp>
        <p:nvCxnSpPr>
          <p:cNvPr id="5" name="Straight Connector 4">
            <a:extLst>
              <a:ext uri="{FF2B5EF4-FFF2-40B4-BE49-F238E27FC236}">
                <a16:creationId xmlns:a16="http://schemas.microsoft.com/office/drawing/2014/main" id="{46112A9B-3476-40A3-9367-F90B351180CE}"/>
              </a:ext>
            </a:extLst>
          </p:cNvPr>
          <p:cNvCxnSpPr/>
          <p:nvPr/>
        </p:nvCxnSpPr>
        <p:spPr>
          <a:xfrm>
            <a:off x="534270" y="1593713"/>
            <a:ext cx="7064943"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b="1" dirty="0">
                <a:solidFill>
                  <a:srgbClr val="FF0000"/>
                </a:solidFill>
              </a:rPr>
              <a:t>Agenda:</a:t>
            </a:r>
            <a:endParaRPr sz="4000" b="1" dirty="0">
              <a:solidFill>
                <a:srgbClr val="FF0000"/>
              </a:solidFill>
            </a:endParaRPr>
          </a:p>
        </p:txBody>
      </p:sp>
      <p:sp>
        <p:nvSpPr>
          <p:cNvPr id="111" name="Google Shape;111;p4"/>
          <p:cNvSpPr txBox="1">
            <a:spLocks noGrp="1"/>
          </p:cNvSpPr>
          <p:nvPr>
            <p:ph type="body" idx="1"/>
          </p:nvPr>
        </p:nvSpPr>
        <p:spPr>
          <a:xfrm>
            <a:off x="684880" y="1325563"/>
            <a:ext cx="10515600" cy="4777234"/>
          </a:xfrm>
          <a:prstGeom prst="rect">
            <a:avLst/>
          </a:prstGeom>
          <a:noFill/>
          <a:ln>
            <a:noFill/>
          </a:ln>
        </p:spPr>
        <p:txBody>
          <a:bodyPr spcFirstLastPara="1" wrap="square" lIns="91425" tIns="45700" rIns="91425" bIns="45700" anchor="t" anchorCtr="0">
            <a:normAutofit/>
          </a:bodyPr>
          <a:lstStyle/>
          <a:p>
            <a:pPr lvl="0"/>
            <a:r>
              <a:rPr lang="en-IN" sz="3200" dirty="0"/>
              <a:t>Business Problem </a:t>
            </a:r>
          </a:p>
          <a:p>
            <a:pPr lvl="0"/>
            <a:r>
              <a:rPr lang="en-IN" sz="3200" dirty="0"/>
              <a:t>Objective of the Project </a:t>
            </a:r>
          </a:p>
          <a:p>
            <a:pPr lvl="0"/>
            <a:r>
              <a:rPr lang="en-IN" sz="3200" dirty="0"/>
              <a:t>Schema Diagram </a:t>
            </a:r>
          </a:p>
          <a:p>
            <a:pPr lvl="0"/>
            <a:r>
              <a:rPr lang="en-IN" sz="3200" dirty="0"/>
              <a:t>Key Analysis Questions </a:t>
            </a:r>
          </a:p>
          <a:p>
            <a:pPr lvl="0"/>
            <a:r>
              <a:rPr lang="en-IN" sz="3200" dirty="0"/>
              <a:t>Business Insights </a:t>
            </a:r>
          </a:p>
          <a:p>
            <a:pPr lvl="0"/>
            <a:r>
              <a:rPr lang="en-IN" sz="3200"/>
              <a:t>Conclusion  </a:t>
            </a:r>
            <a:endParaRPr lang="en-IN" sz="3200" dirty="0"/>
          </a:p>
          <a:p>
            <a:pPr lvl="0"/>
            <a:r>
              <a:rPr lang="en-IN" sz="3200" dirty="0"/>
              <a:t>Challenges Faced </a:t>
            </a:r>
          </a:p>
          <a:p>
            <a:pPr lvl="0"/>
            <a:r>
              <a:rPr lang="en-IN" sz="3200" dirty="0"/>
              <a:t>Questions &amp; Answers (Q&amp;A)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919D-9991-3B28-DDEF-BFFB1A5C4CB7}"/>
              </a:ext>
            </a:extLst>
          </p:cNvPr>
          <p:cNvSpPr>
            <a:spLocks noGrp="1"/>
          </p:cNvSpPr>
          <p:nvPr>
            <p:ph type="title"/>
          </p:nvPr>
        </p:nvSpPr>
        <p:spPr/>
        <p:txBody>
          <a:bodyPr/>
          <a:lstStyle/>
          <a:p>
            <a:r>
              <a:rPr lang="en-US" b="1" dirty="0">
                <a:solidFill>
                  <a:srgbClr val="FF0000"/>
                </a:solidFill>
              </a:rPr>
              <a:t>Introduction:</a:t>
            </a:r>
            <a:endParaRPr lang="en-IN" b="1" dirty="0">
              <a:solidFill>
                <a:srgbClr val="FF0000"/>
              </a:solidFill>
            </a:endParaRPr>
          </a:p>
        </p:txBody>
      </p:sp>
      <p:sp>
        <p:nvSpPr>
          <p:cNvPr id="3" name="Text Placeholder 2">
            <a:extLst>
              <a:ext uri="{FF2B5EF4-FFF2-40B4-BE49-F238E27FC236}">
                <a16:creationId xmlns:a16="http://schemas.microsoft.com/office/drawing/2014/main" id="{196C673D-88DD-CE9C-D807-B42219F86164}"/>
              </a:ext>
            </a:extLst>
          </p:cNvPr>
          <p:cNvSpPr>
            <a:spLocks noGrp="1"/>
          </p:cNvSpPr>
          <p:nvPr>
            <p:ph type="body" idx="1"/>
          </p:nvPr>
        </p:nvSpPr>
        <p:spPr/>
        <p:txBody>
          <a:bodyPr/>
          <a:lstStyle/>
          <a:p>
            <a:pPr marL="114300" indent="0" algn="just">
              <a:buNone/>
            </a:pPr>
            <a:r>
              <a:rPr lang="en-IN" dirty="0"/>
              <a:t>The Music Store Management System is a SQL-based project that </a:t>
            </a:r>
            <a:r>
              <a:rPr lang="en-IN" dirty="0" err="1"/>
              <a:t>analyzes</a:t>
            </a:r>
            <a:r>
              <a:rPr lang="en-IN" dirty="0"/>
              <a:t> music store data to understand customer purchasing </a:t>
            </a:r>
            <a:r>
              <a:rPr lang="en-IN" dirty="0" err="1"/>
              <a:t>behavior</a:t>
            </a:r>
            <a:r>
              <a:rPr lang="en-IN" dirty="0"/>
              <a:t> and sales performance. Using SQL queries, the project identifies valuable insights such as top customers, popular music genres, and high-revenue locations. These insights help the business make better decisions and improve overall performance.</a:t>
            </a:r>
          </a:p>
        </p:txBody>
      </p:sp>
    </p:spTree>
    <p:extLst>
      <p:ext uri="{BB962C8B-B14F-4D97-AF65-F5344CB8AC3E}">
        <p14:creationId xmlns:p14="http://schemas.microsoft.com/office/powerpoint/2010/main" val="4272006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5FF9B54-63FE-ED4B-6521-53B2A86046E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12C3BA6-0ADC-7251-D60D-5F8C10C980BE}"/>
              </a:ext>
            </a:extLst>
          </p:cNvPr>
          <p:cNvSpPr txBox="1"/>
          <p:nvPr/>
        </p:nvSpPr>
        <p:spPr>
          <a:xfrm>
            <a:off x="298450" y="461263"/>
            <a:ext cx="4889500" cy="584775"/>
          </a:xfrm>
          <a:prstGeom prst="rect">
            <a:avLst/>
          </a:prstGeom>
          <a:noFill/>
        </p:spPr>
        <p:txBody>
          <a:bodyPr wrap="square" rtlCol="0">
            <a:spAutoFit/>
          </a:bodyPr>
          <a:lstStyle/>
          <a:p>
            <a:r>
              <a:rPr lang="en-GB" sz="3200" b="1" dirty="0">
                <a:solidFill>
                  <a:srgbClr val="FF0000"/>
                </a:solidFill>
              </a:rPr>
              <a:t>Objective of the Project:</a:t>
            </a:r>
            <a:endParaRPr lang="en-IN" sz="3200" b="1" dirty="0">
              <a:solidFill>
                <a:srgbClr val="FF0000"/>
              </a:solidFill>
            </a:endParaRPr>
          </a:p>
        </p:txBody>
      </p:sp>
      <p:sp>
        <p:nvSpPr>
          <p:cNvPr id="3" name="TextBox 2">
            <a:extLst>
              <a:ext uri="{FF2B5EF4-FFF2-40B4-BE49-F238E27FC236}">
                <a16:creationId xmlns:a16="http://schemas.microsoft.com/office/drawing/2014/main" id="{F7FC5436-D8B1-66FF-9C60-A9BAC7DF9278}"/>
              </a:ext>
            </a:extLst>
          </p:cNvPr>
          <p:cNvSpPr txBox="1"/>
          <p:nvPr/>
        </p:nvSpPr>
        <p:spPr>
          <a:xfrm>
            <a:off x="298450" y="1504050"/>
            <a:ext cx="11541815" cy="3785652"/>
          </a:xfrm>
          <a:prstGeom prst="rect">
            <a:avLst/>
          </a:prstGeom>
          <a:noFill/>
        </p:spPr>
        <p:txBody>
          <a:bodyPr wrap="square">
            <a:spAutoFit/>
          </a:bodyPr>
          <a:lstStyle/>
          <a:p>
            <a:pPr marL="342900" lvl="0" indent="-342900">
              <a:buFont typeface="Arial" panose="020B0604020202020204" pitchFamily="34" charset="0"/>
              <a:buChar char="•"/>
            </a:pPr>
            <a:r>
              <a:rPr lang="en-IN" sz="2400" dirty="0" err="1"/>
              <a:t>Analyze</a:t>
            </a:r>
            <a:r>
              <a:rPr lang="en-IN" sz="2400" dirty="0"/>
              <a:t> the Music Store database using SQL.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Use SQL concepts like </a:t>
            </a:r>
            <a:r>
              <a:rPr lang="en-IN" sz="2400" b="1" dirty="0"/>
              <a:t>JOIN, GROUP BY, Aggregate Functions, CTEs, and Window Functions</a:t>
            </a:r>
            <a:r>
              <a:rPr lang="en-IN" sz="2400" dirty="0"/>
              <a: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Convert raw data into meaningful business insights.</a:t>
            </a:r>
          </a:p>
          <a:p>
            <a:pPr lvl="0"/>
            <a:r>
              <a:rPr lang="en-IN" sz="2400" dirty="0"/>
              <a:t> </a:t>
            </a:r>
          </a:p>
          <a:p>
            <a:pPr marL="342900" lvl="0" indent="-342900">
              <a:buFont typeface="Arial" panose="020B0604020202020204" pitchFamily="34" charset="0"/>
              <a:buChar char="•"/>
            </a:pPr>
            <a:r>
              <a:rPr lang="en-IN" sz="2400" dirty="0"/>
              <a:t>Understand customer </a:t>
            </a:r>
            <a:r>
              <a:rPr lang="en-IN" sz="2400" dirty="0" err="1"/>
              <a:t>behavior</a:t>
            </a:r>
            <a:r>
              <a:rPr lang="en-IN" sz="2400" dirty="0"/>
              <a:t> and sales trends.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Support better business decisions and growth. </a:t>
            </a:r>
          </a:p>
        </p:txBody>
      </p:sp>
    </p:spTree>
    <p:extLst>
      <p:ext uri="{BB962C8B-B14F-4D97-AF65-F5344CB8AC3E}">
        <p14:creationId xmlns:p14="http://schemas.microsoft.com/office/powerpoint/2010/main" val="101272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781561-8773-C0BF-3FB7-E92714CC5448}"/>
              </a:ext>
            </a:extLst>
          </p:cNvPr>
          <p:cNvSpPr txBox="1"/>
          <p:nvPr/>
        </p:nvSpPr>
        <p:spPr>
          <a:xfrm>
            <a:off x="463129" y="2063354"/>
            <a:ext cx="11125897" cy="3539430"/>
          </a:xfrm>
          <a:prstGeom prst="rect">
            <a:avLst/>
          </a:prstGeom>
          <a:noFill/>
        </p:spPr>
        <p:txBody>
          <a:bodyPr wrap="square">
            <a:spAutoFit/>
          </a:bodyPr>
          <a:lstStyle/>
          <a:p>
            <a:pPr marL="457200" lvl="0" indent="-457200">
              <a:buFont typeface="Arial" panose="020B0604020202020204" pitchFamily="34" charset="0"/>
              <a:buChar char="•"/>
            </a:pPr>
            <a:r>
              <a:rPr lang="en-IN" sz="3200" dirty="0"/>
              <a:t>Large amount of sales data.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Difficult to identify top customers and trends.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Need to find high-revenue locations. </a:t>
            </a:r>
          </a:p>
          <a:p>
            <a:pPr marL="457200" lvl="0" indent="-457200">
              <a:buFont typeface="Arial" panose="020B0604020202020204" pitchFamily="34" charset="0"/>
              <a:buChar char="•"/>
            </a:pPr>
            <a:endParaRPr lang="en-IN" sz="3200" dirty="0"/>
          </a:p>
          <a:p>
            <a:pPr marL="457200" lvl="0" indent="-457200">
              <a:buFont typeface="Arial" panose="020B0604020202020204" pitchFamily="34" charset="0"/>
              <a:buChar char="•"/>
            </a:pPr>
            <a:r>
              <a:rPr lang="en-IN" sz="3200" dirty="0"/>
              <a:t>Need better business insights using SQL.</a:t>
            </a:r>
          </a:p>
        </p:txBody>
      </p:sp>
      <p:sp>
        <p:nvSpPr>
          <p:cNvPr id="5" name="TextBox 4">
            <a:extLst>
              <a:ext uri="{FF2B5EF4-FFF2-40B4-BE49-F238E27FC236}">
                <a16:creationId xmlns:a16="http://schemas.microsoft.com/office/drawing/2014/main" id="{5C7444D4-E968-E1AB-F239-250B4FFEAB82}"/>
              </a:ext>
            </a:extLst>
          </p:cNvPr>
          <p:cNvSpPr txBox="1"/>
          <p:nvPr/>
        </p:nvSpPr>
        <p:spPr>
          <a:xfrm>
            <a:off x="463129" y="622012"/>
            <a:ext cx="6157290" cy="646331"/>
          </a:xfrm>
          <a:prstGeom prst="rect">
            <a:avLst/>
          </a:prstGeom>
          <a:noFill/>
        </p:spPr>
        <p:txBody>
          <a:bodyPr wrap="square">
            <a:spAutoFit/>
          </a:bodyPr>
          <a:lstStyle/>
          <a:p>
            <a:r>
              <a:rPr lang="en-IN" sz="3600" b="1" dirty="0">
                <a:solidFill>
                  <a:srgbClr val="FF0000"/>
                </a:solidFill>
                <a:latin typeface="Calibri" panose="020F0502020204030204" pitchFamily="34" charset="0"/>
                <a:ea typeface="Calibri" panose="020F0502020204030204" pitchFamily="34" charset="0"/>
                <a:cs typeface="Calibri" panose="020F0502020204030204" pitchFamily="34" charset="0"/>
              </a:rPr>
              <a:t>Business Problem :</a:t>
            </a:r>
          </a:p>
        </p:txBody>
      </p:sp>
    </p:spTree>
    <p:extLst>
      <p:ext uri="{BB962C8B-B14F-4D97-AF65-F5344CB8AC3E}">
        <p14:creationId xmlns:p14="http://schemas.microsoft.com/office/powerpoint/2010/main" val="1170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882B12ED-5559-2C2D-6186-F48E36CB44A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2073C79-2BFF-C66E-C383-154FDF25752F}"/>
              </a:ext>
            </a:extLst>
          </p:cNvPr>
          <p:cNvPicPr>
            <a:picLocks noChangeAspect="1"/>
          </p:cNvPicPr>
          <p:nvPr/>
        </p:nvPicPr>
        <p:blipFill>
          <a:blip r:embed="rId3"/>
          <a:srcRect/>
          <a:stretch/>
        </p:blipFill>
        <p:spPr>
          <a:xfrm>
            <a:off x="1113293" y="843654"/>
            <a:ext cx="9242970" cy="5396304"/>
          </a:xfrm>
          <a:prstGeom prst="rect">
            <a:avLst/>
          </a:prstGeom>
        </p:spPr>
      </p:pic>
      <p:sp>
        <p:nvSpPr>
          <p:cNvPr id="9" name="TextBox 8">
            <a:extLst>
              <a:ext uri="{FF2B5EF4-FFF2-40B4-BE49-F238E27FC236}">
                <a16:creationId xmlns:a16="http://schemas.microsoft.com/office/drawing/2014/main" id="{B0568826-3C01-D64D-014C-41C89F18C702}"/>
              </a:ext>
            </a:extLst>
          </p:cNvPr>
          <p:cNvSpPr txBox="1"/>
          <p:nvPr/>
        </p:nvSpPr>
        <p:spPr>
          <a:xfrm rot="10800000" flipV="1">
            <a:off x="406400" y="172587"/>
            <a:ext cx="2933700" cy="400110"/>
          </a:xfrm>
          <a:prstGeom prst="rect">
            <a:avLst/>
          </a:prstGeom>
          <a:noFill/>
        </p:spPr>
        <p:txBody>
          <a:bodyPr wrap="square" rtlCol="0">
            <a:spAutoFit/>
          </a:bodyPr>
          <a:lstStyle/>
          <a:p>
            <a:r>
              <a:rPr lang="en-GB" sz="2000" b="1" dirty="0">
                <a:solidFill>
                  <a:srgbClr val="FF0000"/>
                </a:solidFill>
              </a:rPr>
              <a:t>Schema Diagram : </a:t>
            </a:r>
            <a:endParaRPr lang="en-IN" sz="2000" b="1" dirty="0">
              <a:solidFill>
                <a:srgbClr val="FF0000"/>
              </a:solidFill>
            </a:endParaRPr>
          </a:p>
        </p:txBody>
      </p:sp>
    </p:spTree>
    <p:extLst>
      <p:ext uri="{BB962C8B-B14F-4D97-AF65-F5344CB8AC3E}">
        <p14:creationId xmlns:p14="http://schemas.microsoft.com/office/powerpoint/2010/main" val="3718560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3A83CBAC-1FCE-BD55-A9F4-21D39527D15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EEC8408-A4EB-0040-A43A-D8673D088022}"/>
              </a:ext>
            </a:extLst>
          </p:cNvPr>
          <p:cNvPicPr>
            <a:picLocks noChangeAspect="1"/>
          </p:cNvPicPr>
          <p:nvPr/>
        </p:nvPicPr>
        <p:blipFill>
          <a:blip r:embed="rId3"/>
          <a:srcRect/>
          <a:stretch/>
        </p:blipFill>
        <p:spPr>
          <a:xfrm>
            <a:off x="1597228" y="1721636"/>
            <a:ext cx="3173651" cy="2784512"/>
          </a:xfrm>
          <a:prstGeom prst="rect">
            <a:avLst/>
          </a:prstGeom>
        </p:spPr>
      </p:pic>
      <p:pic>
        <p:nvPicPr>
          <p:cNvPr id="7" name="Picture 6">
            <a:extLst>
              <a:ext uri="{FF2B5EF4-FFF2-40B4-BE49-F238E27FC236}">
                <a16:creationId xmlns:a16="http://schemas.microsoft.com/office/drawing/2014/main" id="{71F3F6B8-5999-B919-1524-75F626575234}"/>
              </a:ext>
            </a:extLst>
          </p:cNvPr>
          <p:cNvPicPr>
            <a:picLocks noChangeAspect="1"/>
          </p:cNvPicPr>
          <p:nvPr/>
        </p:nvPicPr>
        <p:blipFill>
          <a:blip r:embed="rId4"/>
          <a:srcRect/>
          <a:stretch/>
        </p:blipFill>
        <p:spPr>
          <a:xfrm>
            <a:off x="6237821" y="2571630"/>
            <a:ext cx="4992280" cy="857370"/>
          </a:xfrm>
          <a:prstGeom prst="rect">
            <a:avLst/>
          </a:prstGeom>
        </p:spPr>
      </p:pic>
      <p:sp>
        <p:nvSpPr>
          <p:cNvPr id="4" name="TextBox 3">
            <a:extLst>
              <a:ext uri="{FF2B5EF4-FFF2-40B4-BE49-F238E27FC236}">
                <a16:creationId xmlns:a16="http://schemas.microsoft.com/office/drawing/2014/main" id="{951407C0-C263-8AEA-94AB-8A0516D927C7}"/>
              </a:ext>
            </a:extLst>
          </p:cNvPr>
          <p:cNvSpPr txBox="1"/>
          <p:nvPr/>
        </p:nvSpPr>
        <p:spPr>
          <a:xfrm>
            <a:off x="1978407" y="246945"/>
            <a:ext cx="8235186" cy="461665"/>
          </a:xfrm>
          <a:prstGeom prst="rect">
            <a:avLst/>
          </a:prstGeom>
          <a:noFill/>
        </p:spPr>
        <p:txBody>
          <a:bodyPr wrap="square">
            <a:spAutoFit/>
          </a:bodyPr>
          <a:lstStyle/>
          <a:p>
            <a:r>
              <a:rPr lang="en-IN" sz="2400" b="1" dirty="0">
                <a:solidFill>
                  <a:schemeClr val="tx1"/>
                </a:solidFill>
              </a:rPr>
              <a:t>1. Who is the senior most employee based on job title?</a:t>
            </a:r>
          </a:p>
        </p:txBody>
      </p:sp>
      <p:sp>
        <p:nvSpPr>
          <p:cNvPr id="6" name="TextBox 5">
            <a:extLst>
              <a:ext uri="{FF2B5EF4-FFF2-40B4-BE49-F238E27FC236}">
                <a16:creationId xmlns:a16="http://schemas.microsoft.com/office/drawing/2014/main" id="{3338750B-BDBB-D81D-E4D5-B3AB1DC5457E}"/>
              </a:ext>
            </a:extLst>
          </p:cNvPr>
          <p:cNvSpPr txBox="1"/>
          <p:nvPr/>
        </p:nvSpPr>
        <p:spPr>
          <a:xfrm>
            <a:off x="583130" y="477241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53ABE396-A8C2-F47D-D085-606D4D8DD573}"/>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65BE59FD-357B-69D5-ECA2-5D3043204A80}"/>
              </a:ext>
            </a:extLst>
          </p:cNvPr>
          <p:cNvSpPr txBox="1"/>
          <p:nvPr/>
        </p:nvSpPr>
        <p:spPr>
          <a:xfrm>
            <a:off x="6764055" y="153697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EB4362E7-257D-68D5-0B61-20F322D4D62B}"/>
              </a:ext>
            </a:extLst>
          </p:cNvPr>
          <p:cNvSpPr txBox="1"/>
          <p:nvPr/>
        </p:nvSpPr>
        <p:spPr>
          <a:xfrm>
            <a:off x="423081" y="5367215"/>
            <a:ext cx="11476819" cy="646331"/>
          </a:xfrm>
          <a:prstGeom prst="rect">
            <a:avLst/>
          </a:prstGeom>
          <a:noFill/>
        </p:spPr>
        <p:txBody>
          <a:bodyPr wrap="square" rtlCol="0">
            <a:spAutoFit/>
          </a:bodyPr>
          <a:lstStyle/>
          <a:p>
            <a:r>
              <a:rPr lang="en-IN" sz="1800" b="1" dirty="0"/>
              <a:t>Andrew Adams is the senior-most employee in the company, holding the position of General Manager (L6), which is the highest level in the organization.</a:t>
            </a:r>
          </a:p>
        </p:txBody>
      </p:sp>
    </p:spTree>
    <p:extLst>
      <p:ext uri="{BB962C8B-B14F-4D97-AF65-F5344CB8AC3E}">
        <p14:creationId xmlns:p14="http://schemas.microsoft.com/office/powerpoint/2010/main" val="3739623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3CF9812-8975-B461-CF69-555CF567B2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5AB2B2-E776-CE3C-CA76-79F82D41707D}"/>
              </a:ext>
            </a:extLst>
          </p:cNvPr>
          <p:cNvSpPr txBox="1"/>
          <p:nvPr/>
        </p:nvSpPr>
        <p:spPr>
          <a:xfrm>
            <a:off x="1978407" y="246945"/>
            <a:ext cx="8235186" cy="461665"/>
          </a:xfrm>
          <a:prstGeom prst="rect">
            <a:avLst/>
          </a:prstGeom>
          <a:noFill/>
        </p:spPr>
        <p:txBody>
          <a:bodyPr wrap="square">
            <a:spAutoFit/>
          </a:bodyPr>
          <a:lstStyle/>
          <a:p>
            <a:r>
              <a:rPr lang="en-IN" sz="2400" b="1" dirty="0"/>
              <a:t>2. Which countries have the most Invoices? </a:t>
            </a:r>
            <a:endParaRPr lang="en-IN" sz="2400" b="1" dirty="0">
              <a:solidFill>
                <a:schemeClr val="tx1"/>
              </a:solidFill>
            </a:endParaRPr>
          </a:p>
        </p:txBody>
      </p:sp>
      <p:sp>
        <p:nvSpPr>
          <p:cNvPr id="6" name="TextBox 5">
            <a:extLst>
              <a:ext uri="{FF2B5EF4-FFF2-40B4-BE49-F238E27FC236}">
                <a16:creationId xmlns:a16="http://schemas.microsoft.com/office/drawing/2014/main" id="{0C5BA7BC-4454-3C20-B52B-F5EA5A0B504F}"/>
              </a:ext>
            </a:extLst>
          </p:cNvPr>
          <p:cNvSpPr txBox="1"/>
          <p:nvPr/>
        </p:nvSpPr>
        <p:spPr>
          <a:xfrm>
            <a:off x="215829" y="459616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3B8664DD-0F31-F803-CD47-A9E8202C3372}"/>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FACB2A73-A2A2-F18F-FDA8-7568C9ACE18F}"/>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79EC8B40-29CC-98E3-E7A8-1D4FB931698D}"/>
              </a:ext>
            </a:extLst>
          </p:cNvPr>
          <p:cNvSpPr txBox="1"/>
          <p:nvPr/>
        </p:nvSpPr>
        <p:spPr>
          <a:xfrm>
            <a:off x="215829" y="5367215"/>
            <a:ext cx="11684071" cy="923330"/>
          </a:xfrm>
          <a:prstGeom prst="rect">
            <a:avLst/>
          </a:prstGeom>
          <a:noFill/>
        </p:spPr>
        <p:txBody>
          <a:bodyPr wrap="square" rtlCol="0">
            <a:spAutoFit/>
          </a:bodyPr>
          <a:lstStyle/>
          <a:p>
            <a:r>
              <a:rPr lang="en-IN" sz="1800" b="1" dirty="0"/>
              <a:t>The USA has the highest number of invoices (131), followed by Canada (76) and Brazil (61). This indicates that customers from these countries contribute the most transactions, making them the strongest markets for the music store.</a:t>
            </a:r>
          </a:p>
        </p:txBody>
      </p:sp>
      <p:pic>
        <p:nvPicPr>
          <p:cNvPr id="3" name="Picture 2">
            <a:extLst>
              <a:ext uri="{FF2B5EF4-FFF2-40B4-BE49-F238E27FC236}">
                <a16:creationId xmlns:a16="http://schemas.microsoft.com/office/drawing/2014/main" id="{148A0A7B-981F-C9A1-0266-355D7DC3A408}"/>
              </a:ext>
            </a:extLst>
          </p:cNvPr>
          <p:cNvPicPr>
            <a:picLocks noChangeAspect="1"/>
          </p:cNvPicPr>
          <p:nvPr/>
        </p:nvPicPr>
        <p:blipFill>
          <a:blip r:embed="rId3"/>
          <a:srcRect/>
          <a:stretch/>
        </p:blipFill>
        <p:spPr>
          <a:xfrm>
            <a:off x="589478" y="1818690"/>
            <a:ext cx="5468386" cy="2231778"/>
          </a:xfrm>
          <a:prstGeom prst="rect">
            <a:avLst/>
          </a:prstGeom>
        </p:spPr>
      </p:pic>
      <p:pic>
        <p:nvPicPr>
          <p:cNvPr id="12" name="Picture 11">
            <a:extLst>
              <a:ext uri="{FF2B5EF4-FFF2-40B4-BE49-F238E27FC236}">
                <a16:creationId xmlns:a16="http://schemas.microsoft.com/office/drawing/2014/main" id="{8A7183DC-8185-19B6-B922-559AD5700DF8}"/>
              </a:ext>
            </a:extLst>
          </p:cNvPr>
          <p:cNvPicPr>
            <a:picLocks noChangeAspect="1"/>
          </p:cNvPicPr>
          <p:nvPr/>
        </p:nvPicPr>
        <p:blipFill>
          <a:blip r:embed="rId4"/>
          <a:srcRect/>
          <a:stretch/>
        </p:blipFill>
        <p:spPr>
          <a:xfrm>
            <a:off x="6769539" y="1721636"/>
            <a:ext cx="3969181" cy="2472813"/>
          </a:xfrm>
          <a:prstGeom prst="rect">
            <a:avLst/>
          </a:prstGeom>
        </p:spPr>
      </p:pic>
    </p:spTree>
    <p:extLst>
      <p:ext uri="{BB962C8B-B14F-4D97-AF65-F5344CB8AC3E}">
        <p14:creationId xmlns:p14="http://schemas.microsoft.com/office/powerpoint/2010/main" val="1345286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9075848-A64A-FA09-EBC5-7D8C21FA8A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ED3A19D-C1EF-0574-0D82-CB9C7522C7C6}"/>
              </a:ext>
            </a:extLst>
          </p:cNvPr>
          <p:cNvSpPr txBox="1"/>
          <p:nvPr/>
        </p:nvSpPr>
        <p:spPr>
          <a:xfrm>
            <a:off x="1978407" y="246945"/>
            <a:ext cx="8235186" cy="461665"/>
          </a:xfrm>
          <a:prstGeom prst="rect">
            <a:avLst/>
          </a:prstGeom>
          <a:noFill/>
        </p:spPr>
        <p:txBody>
          <a:bodyPr wrap="square">
            <a:spAutoFit/>
          </a:bodyPr>
          <a:lstStyle/>
          <a:p>
            <a:r>
              <a:rPr lang="en-IN" sz="2400" b="1" dirty="0"/>
              <a:t>3. What are the top 3 values of total invoice? </a:t>
            </a:r>
            <a:endParaRPr lang="en-IN" sz="2400" b="1" dirty="0">
              <a:solidFill>
                <a:schemeClr val="tx1"/>
              </a:solidFill>
            </a:endParaRPr>
          </a:p>
        </p:txBody>
      </p:sp>
      <p:sp>
        <p:nvSpPr>
          <p:cNvPr id="6" name="TextBox 5">
            <a:extLst>
              <a:ext uri="{FF2B5EF4-FFF2-40B4-BE49-F238E27FC236}">
                <a16:creationId xmlns:a16="http://schemas.microsoft.com/office/drawing/2014/main" id="{E26A48B8-243B-DC0A-2621-70AE9F418F00}"/>
              </a:ext>
            </a:extLst>
          </p:cNvPr>
          <p:cNvSpPr txBox="1"/>
          <p:nvPr/>
        </p:nvSpPr>
        <p:spPr>
          <a:xfrm>
            <a:off x="1224575" y="477241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DE5098C6-3DE2-0684-CF86-D3CAFDA1152B}"/>
              </a:ext>
            </a:extLst>
          </p:cNvPr>
          <p:cNvSpPr txBox="1"/>
          <p:nvPr/>
        </p:nvSpPr>
        <p:spPr>
          <a:xfrm>
            <a:off x="1392169" y="1167638"/>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84D51C-9426-788F-652B-6E7EB729D7A4}"/>
              </a:ext>
            </a:extLst>
          </p:cNvPr>
          <p:cNvSpPr txBox="1"/>
          <p:nvPr/>
        </p:nvSpPr>
        <p:spPr>
          <a:xfrm>
            <a:off x="6814855" y="1167638"/>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E42E5714-16CC-C99E-4196-C6F0F0D44B81}"/>
              </a:ext>
            </a:extLst>
          </p:cNvPr>
          <p:cNvSpPr txBox="1"/>
          <p:nvPr/>
        </p:nvSpPr>
        <p:spPr>
          <a:xfrm>
            <a:off x="1224575" y="5367215"/>
            <a:ext cx="10675325" cy="923330"/>
          </a:xfrm>
          <a:prstGeom prst="rect">
            <a:avLst/>
          </a:prstGeom>
          <a:noFill/>
        </p:spPr>
        <p:txBody>
          <a:bodyPr wrap="square" rtlCol="0">
            <a:spAutoFit/>
          </a:bodyPr>
          <a:lstStyle/>
          <a:p>
            <a:r>
              <a:rPr lang="en-IN" sz="1800" b="1" dirty="0"/>
              <a:t>The highest invoice value recorded is 23.76, followed by 19.80. This shows that a few customers made larger purchases compared to the average transaction, contributing more revenue to the music store.</a:t>
            </a:r>
          </a:p>
        </p:txBody>
      </p:sp>
      <p:pic>
        <p:nvPicPr>
          <p:cNvPr id="5" name="Picture 4">
            <a:extLst>
              <a:ext uri="{FF2B5EF4-FFF2-40B4-BE49-F238E27FC236}">
                <a16:creationId xmlns:a16="http://schemas.microsoft.com/office/drawing/2014/main" id="{909B39AF-04FC-82AC-9CEF-B610BDE4F646}"/>
              </a:ext>
            </a:extLst>
          </p:cNvPr>
          <p:cNvPicPr>
            <a:picLocks noChangeAspect="1"/>
          </p:cNvPicPr>
          <p:nvPr/>
        </p:nvPicPr>
        <p:blipFill>
          <a:blip r:embed="rId3"/>
          <a:srcRect/>
          <a:stretch/>
        </p:blipFill>
        <p:spPr>
          <a:xfrm>
            <a:off x="766832" y="1818308"/>
            <a:ext cx="4759312" cy="2125748"/>
          </a:xfrm>
          <a:prstGeom prst="rect">
            <a:avLst/>
          </a:prstGeom>
        </p:spPr>
      </p:pic>
      <p:pic>
        <p:nvPicPr>
          <p:cNvPr id="11" name="Picture 10">
            <a:extLst>
              <a:ext uri="{FF2B5EF4-FFF2-40B4-BE49-F238E27FC236}">
                <a16:creationId xmlns:a16="http://schemas.microsoft.com/office/drawing/2014/main" id="{DE4E8FBB-B79A-7032-0D52-86A384256556}"/>
              </a:ext>
            </a:extLst>
          </p:cNvPr>
          <p:cNvPicPr>
            <a:picLocks noChangeAspect="1"/>
          </p:cNvPicPr>
          <p:nvPr/>
        </p:nvPicPr>
        <p:blipFill>
          <a:blip r:embed="rId4"/>
          <a:srcRect/>
          <a:stretch/>
        </p:blipFill>
        <p:spPr>
          <a:xfrm>
            <a:off x="6665858" y="2042549"/>
            <a:ext cx="3878654" cy="2012973"/>
          </a:xfrm>
          <a:prstGeom prst="rect">
            <a:avLst/>
          </a:prstGeom>
        </p:spPr>
      </p:pic>
    </p:spTree>
    <p:extLst>
      <p:ext uri="{BB962C8B-B14F-4D97-AF65-F5344CB8AC3E}">
        <p14:creationId xmlns:p14="http://schemas.microsoft.com/office/powerpoint/2010/main" val="1618190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50DA3F3B-B091-0BA4-6DFD-56CC55DFDF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EB11023-5C4C-8FCE-8716-AFF1538602CC}"/>
              </a:ext>
            </a:extLst>
          </p:cNvPr>
          <p:cNvSpPr txBox="1"/>
          <p:nvPr/>
        </p:nvSpPr>
        <p:spPr>
          <a:xfrm>
            <a:off x="215829" y="177127"/>
            <a:ext cx="11760342" cy="1015663"/>
          </a:xfrm>
          <a:prstGeom prst="rect">
            <a:avLst/>
          </a:prstGeom>
          <a:noFill/>
        </p:spPr>
        <p:txBody>
          <a:bodyPr wrap="square">
            <a:spAutoFit/>
          </a:bodyPr>
          <a:lstStyle/>
          <a:p>
            <a:r>
              <a:rPr lang="en-IN" sz="2000" b="1" dirty="0"/>
              <a:t>4. Which city has the best customers? - We would like to throw a promotional Music Festival in the city we made the most money. Write a query that returns one city that has the highest sum of invoice totals. Return both the city name &amp; sum of all invoice totals </a:t>
            </a:r>
            <a:endParaRPr lang="en-IN" sz="2000" b="1" dirty="0">
              <a:solidFill>
                <a:schemeClr val="tx1"/>
              </a:solidFill>
            </a:endParaRPr>
          </a:p>
        </p:txBody>
      </p:sp>
      <p:sp>
        <p:nvSpPr>
          <p:cNvPr id="6" name="TextBox 5">
            <a:extLst>
              <a:ext uri="{FF2B5EF4-FFF2-40B4-BE49-F238E27FC236}">
                <a16:creationId xmlns:a16="http://schemas.microsoft.com/office/drawing/2014/main" id="{ACE8EC93-3299-054C-210A-053EBD49CBBD}"/>
              </a:ext>
            </a:extLst>
          </p:cNvPr>
          <p:cNvSpPr txBox="1"/>
          <p:nvPr/>
        </p:nvSpPr>
        <p:spPr>
          <a:xfrm>
            <a:off x="342829" y="4772414"/>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923F8F36-5FC6-8DED-A432-CD5C896EF947}"/>
              </a:ext>
            </a:extLst>
          </p:cNvPr>
          <p:cNvSpPr txBox="1"/>
          <p:nvPr/>
        </p:nvSpPr>
        <p:spPr>
          <a:xfrm>
            <a:off x="1366769" y="162553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94520CE-EF33-ECFE-2B2A-306C45BB7120}"/>
              </a:ext>
            </a:extLst>
          </p:cNvPr>
          <p:cNvSpPr txBox="1"/>
          <p:nvPr/>
        </p:nvSpPr>
        <p:spPr>
          <a:xfrm>
            <a:off x="6814855" y="1625537"/>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AD5532A0-BCC0-0D2E-3F12-F1799AADB0BF}"/>
              </a:ext>
            </a:extLst>
          </p:cNvPr>
          <p:cNvSpPr txBox="1"/>
          <p:nvPr/>
        </p:nvSpPr>
        <p:spPr>
          <a:xfrm>
            <a:off x="342829" y="5367215"/>
            <a:ext cx="11557071" cy="923330"/>
          </a:xfrm>
          <a:prstGeom prst="rect">
            <a:avLst/>
          </a:prstGeom>
          <a:noFill/>
        </p:spPr>
        <p:txBody>
          <a:bodyPr wrap="square" rtlCol="0">
            <a:spAutoFit/>
          </a:bodyPr>
          <a:lstStyle/>
          <a:p>
            <a:r>
              <a:rPr lang="en-IN" sz="1800" b="1" dirty="0"/>
              <a:t>Prague generated the highest revenue with a total invoice value of 273.24. This indicates that customers in Prague contributed the most to the store's sales, making it a suitable location for promotional events such as a music festival.</a:t>
            </a:r>
          </a:p>
        </p:txBody>
      </p:sp>
      <p:pic>
        <p:nvPicPr>
          <p:cNvPr id="5" name="Picture 4">
            <a:extLst>
              <a:ext uri="{FF2B5EF4-FFF2-40B4-BE49-F238E27FC236}">
                <a16:creationId xmlns:a16="http://schemas.microsoft.com/office/drawing/2014/main" id="{03E854A3-F221-BFA7-1D8A-EA6360A2A4CF}"/>
              </a:ext>
            </a:extLst>
          </p:cNvPr>
          <p:cNvPicPr>
            <a:picLocks noChangeAspect="1"/>
          </p:cNvPicPr>
          <p:nvPr/>
        </p:nvPicPr>
        <p:blipFill>
          <a:blip r:embed="rId3"/>
          <a:srcRect/>
          <a:stretch/>
        </p:blipFill>
        <p:spPr>
          <a:xfrm>
            <a:off x="500484" y="2505428"/>
            <a:ext cx="5945773" cy="1719780"/>
          </a:xfrm>
          <a:prstGeom prst="rect">
            <a:avLst/>
          </a:prstGeom>
        </p:spPr>
      </p:pic>
      <p:pic>
        <p:nvPicPr>
          <p:cNvPr id="11" name="Picture 10">
            <a:extLst>
              <a:ext uri="{FF2B5EF4-FFF2-40B4-BE49-F238E27FC236}">
                <a16:creationId xmlns:a16="http://schemas.microsoft.com/office/drawing/2014/main" id="{F0F94E26-AC2C-A5B9-9ED0-80D8C695EF37}"/>
              </a:ext>
            </a:extLst>
          </p:cNvPr>
          <p:cNvPicPr>
            <a:picLocks noChangeAspect="1"/>
          </p:cNvPicPr>
          <p:nvPr/>
        </p:nvPicPr>
        <p:blipFill>
          <a:blip r:embed="rId4"/>
          <a:stretch>
            <a:fillRect/>
          </a:stretch>
        </p:blipFill>
        <p:spPr>
          <a:xfrm>
            <a:off x="6814855" y="2304031"/>
            <a:ext cx="4591184" cy="1856365"/>
          </a:xfrm>
          <a:prstGeom prst="rect">
            <a:avLst/>
          </a:prstGeom>
        </p:spPr>
      </p:pic>
    </p:spTree>
    <p:extLst>
      <p:ext uri="{BB962C8B-B14F-4D97-AF65-F5344CB8AC3E}">
        <p14:creationId xmlns:p14="http://schemas.microsoft.com/office/powerpoint/2010/main" val="2966922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3A8F07-79AF-86AB-534C-8A8391FC70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394C55-C61B-95BB-3B9B-7B22D539FB8F}"/>
              </a:ext>
            </a:extLst>
          </p:cNvPr>
          <p:cNvSpPr txBox="1"/>
          <p:nvPr/>
        </p:nvSpPr>
        <p:spPr>
          <a:xfrm>
            <a:off x="215828" y="246945"/>
            <a:ext cx="11684071" cy="707886"/>
          </a:xfrm>
          <a:prstGeom prst="rect">
            <a:avLst/>
          </a:prstGeom>
          <a:noFill/>
        </p:spPr>
        <p:txBody>
          <a:bodyPr wrap="square">
            <a:spAutoFit/>
          </a:bodyPr>
          <a:lstStyle/>
          <a:p>
            <a:r>
              <a:rPr lang="en-IN" sz="2000" b="1" dirty="0"/>
              <a:t>5. Who is the best customer? - The customer who has spent the most money will be declared the best customer. Write a query that returns the person who has spent the most money </a:t>
            </a:r>
            <a:endParaRPr lang="en-IN" sz="2000" b="1" dirty="0">
              <a:solidFill>
                <a:schemeClr val="tx1"/>
              </a:solidFill>
            </a:endParaRPr>
          </a:p>
        </p:txBody>
      </p:sp>
      <p:sp>
        <p:nvSpPr>
          <p:cNvPr id="6" name="TextBox 5">
            <a:extLst>
              <a:ext uri="{FF2B5EF4-FFF2-40B4-BE49-F238E27FC236}">
                <a16:creationId xmlns:a16="http://schemas.microsoft.com/office/drawing/2014/main" id="{CD25C75A-3B8F-724F-2E9B-E7A45B6D2B4E}"/>
              </a:ext>
            </a:extLst>
          </p:cNvPr>
          <p:cNvSpPr txBox="1"/>
          <p:nvPr/>
        </p:nvSpPr>
        <p:spPr>
          <a:xfrm>
            <a:off x="441449" y="4772415"/>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6163DAF6-C732-575B-2130-0B88F4540FBB}"/>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9B36077D-442C-1FEC-BEA8-0AF4D34C4D49}"/>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AD384094-D310-97BF-3453-61B03F3C1D6B}"/>
              </a:ext>
            </a:extLst>
          </p:cNvPr>
          <p:cNvSpPr txBox="1"/>
          <p:nvPr/>
        </p:nvSpPr>
        <p:spPr>
          <a:xfrm>
            <a:off x="215827" y="5367215"/>
            <a:ext cx="11684073" cy="646331"/>
          </a:xfrm>
          <a:prstGeom prst="rect">
            <a:avLst/>
          </a:prstGeom>
          <a:noFill/>
        </p:spPr>
        <p:txBody>
          <a:bodyPr wrap="square" rtlCol="0">
            <a:spAutoFit/>
          </a:bodyPr>
          <a:lstStyle/>
          <a:p>
            <a:r>
              <a:rPr lang="en-IN" sz="1800" b="1" dirty="0"/>
              <a:t>František Wichterlová is the highest-spending customer, with a total purchase amount of 144.54. This indicates strong customer loyalty and a high level of engagement with the music store's products.</a:t>
            </a:r>
          </a:p>
        </p:txBody>
      </p:sp>
      <p:pic>
        <p:nvPicPr>
          <p:cNvPr id="5" name="Picture 4">
            <a:extLst>
              <a:ext uri="{FF2B5EF4-FFF2-40B4-BE49-F238E27FC236}">
                <a16:creationId xmlns:a16="http://schemas.microsoft.com/office/drawing/2014/main" id="{0329A955-59F9-BC95-76A1-99C434685D12}"/>
              </a:ext>
            </a:extLst>
          </p:cNvPr>
          <p:cNvPicPr>
            <a:picLocks noChangeAspect="1"/>
          </p:cNvPicPr>
          <p:nvPr/>
        </p:nvPicPr>
        <p:blipFill>
          <a:blip r:embed="rId3"/>
          <a:srcRect/>
          <a:stretch/>
        </p:blipFill>
        <p:spPr>
          <a:xfrm>
            <a:off x="215828" y="1947105"/>
            <a:ext cx="5700646" cy="2488262"/>
          </a:xfrm>
          <a:prstGeom prst="rect">
            <a:avLst/>
          </a:prstGeom>
        </p:spPr>
      </p:pic>
      <p:pic>
        <p:nvPicPr>
          <p:cNvPr id="11" name="Picture 10">
            <a:extLst>
              <a:ext uri="{FF2B5EF4-FFF2-40B4-BE49-F238E27FC236}">
                <a16:creationId xmlns:a16="http://schemas.microsoft.com/office/drawing/2014/main" id="{78B80EB2-38BC-9AE8-D0DF-BA8706996D73}"/>
              </a:ext>
            </a:extLst>
          </p:cNvPr>
          <p:cNvPicPr>
            <a:picLocks noChangeAspect="1"/>
          </p:cNvPicPr>
          <p:nvPr/>
        </p:nvPicPr>
        <p:blipFill>
          <a:blip r:embed="rId4"/>
          <a:stretch>
            <a:fillRect/>
          </a:stretch>
        </p:blipFill>
        <p:spPr>
          <a:xfrm>
            <a:off x="6275528" y="2404302"/>
            <a:ext cx="5292510" cy="1024698"/>
          </a:xfrm>
          <a:prstGeom prst="rect">
            <a:avLst/>
          </a:prstGeom>
        </p:spPr>
      </p:pic>
    </p:spTree>
    <p:extLst>
      <p:ext uri="{BB962C8B-B14F-4D97-AF65-F5344CB8AC3E}">
        <p14:creationId xmlns:p14="http://schemas.microsoft.com/office/powerpoint/2010/main" val="1654256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20272F5-9B2E-7107-5004-53EF17FDD48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7693D5-5D51-46D3-274F-CD8794AA33A1}"/>
              </a:ext>
            </a:extLst>
          </p:cNvPr>
          <p:cNvSpPr txBox="1"/>
          <p:nvPr/>
        </p:nvSpPr>
        <p:spPr>
          <a:xfrm>
            <a:off x="215829" y="162862"/>
            <a:ext cx="11684072" cy="830997"/>
          </a:xfrm>
          <a:prstGeom prst="rect">
            <a:avLst/>
          </a:prstGeom>
          <a:noFill/>
        </p:spPr>
        <p:txBody>
          <a:bodyPr wrap="square">
            <a:spAutoFit/>
          </a:bodyPr>
          <a:lstStyle/>
          <a:p>
            <a:r>
              <a:rPr lang="en-IN" sz="2400" b="1" dirty="0"/>
              <a:t>6. Write a query to return the email, first name, last name, &amp; Genre of all Rock Music listeners. Return your list ordered alphabetically by email starting with A</a:t>
            </a:r>
            <a:endParaRPr lang="en-IN" sz="2400" b="1" dirty="0">
              <a:solidFill>
                <a:schemeClr val="tx1"/>
              </a:solidFill>
            </a:endParaRPr>
          </a:p>
        </p:txBody>
      </p:sp>
      <p:sp>
        <p:nvSpPr>
          <p:cNvPr id="6" name="TextBox 5">
            <a:extLst>
              <a:ext uri="{FF2B5EF4-FFF2-40B4-BE49-F238E27FC236}">
                <a16:creationId xmlns:a16="http://schemas.microsoft.com/office/drawing/2014/main" id="{1FF31ADF-A265-7A0B-68CF-510E9ED36DE9}"/>
              </a:ext>
            </a:extLst>
          </p:cNvPr>
          <p:cNvSpPr txBox="1"/>
          <p:nvPr/>
        </p:nvSpPr>
        <p:spPr>
          <a:xfrm>
            <a:off x="215829" y="5005971"/>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B4022639-99AA-FF6E-4674-F45DBBEE8D6B}"/>
              </a:ext>
            </a:extLst>
          </p:cNvPr>
          <p:cNvSpPr txBox="1"/>
          <p:nvPr/>
        </p:nvSpPr>
        <p:spPr>
          <a:xfrm>
            <a:off x="1440201" y="1146402"/>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BF7D9364-47A4-62D6-D143-6185E752F2EF}"/>
              </a:ext>
            </a:extLst>
          </p:cNvPr>
          <p:cNvSpPr txBox="1"/>
          <p:nvPr/>
        </p:nvSpPr>
        <p:spPr>
          <a:xfrm>
            <a:off x="6852955" y="1136230"/>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F1457B8D-C7E0-7E1A-D20A-E0D2A2DDFAEE}"/>
              </a:ext>
            </a:extLst>
          </p:cNvPr>
          <p:cNvSpPr txBox="1"/>
          <p:nvPr/>
        </p:nvSpPr>
        <p:spPr>
          <a:xfrm>
            <a:off x="215829" y="5375303"/>
            <a:ext cx="11684072" cy="923330"/>
          </a:xfrm>
          <a:prstGeom prst="rect">
            <a:avLst/>
          </a:prstGeom>
          <a:noFill/>
        </p:spPr>
        <p:txBody>
          <a:bodyPr wrap="square" rtlCol="0">
            <a:spAutoFit/>
          </a:bodyPr>
          <a:lstStyle/>
          <a:p>
            <a:r>
              <a:rPr lang="en-IN" sz="1800" b="1" dirty="0"/>
              <a:t>The results show that customers from different countries have purchased Rock music, making Rock one of the most popular genres in the music store. This indicates a broad and diverse audience for Rock music across the customer base</a:t>
            </a:r>
          </a:p>
        </p:txBody>
      </p:sp>
      <p:pic>
        <p:nvPicPr>
          <p:cNvPr id="5" name="Picture 4">
            <a:extLst>
              <a:ext uri="{FF2B5EF4-FFF2-40B4-BE49-F238E27FC236}">
                <a16:creationId xmlns:a16="http://schemas.microsoft.com/office/drawing/2014/main" id="{98F98BFA-CCDD-5300-7AC3-5A5E00AACEB6}"/>
              </a:ext>
            </a:extLst>
          </p:cNvPr>
          <p:cNvPicPr>
            <a:picLocks noChangeAspect="1"/>
          </p:cNvPicPr>
          <p:nvPr/>
        </p:nvPicPr>
        <p:blipFill>
          <a:blip r:embed="rId3"/>
          <a:srcRect/>
          <a:stretch/>
        </p:blipFill>
        <p:spPr>
          <a:xfrm>
            <a:off x="456495" y="1515734"/>
            <a:ext cx="4736225" cy="3323690"/>
          </a:xfrm>
          <a:prstGeom prst="rect">
            <a:avLst/>
          </a:prstGeom>
        </p:spPr>
      </p:pic>
      <p:pic>
        <p:nvPicPr>
          <p:cNvPr id="11" name="Picture 10">
            <a:extLst>
              <a:ext uri="{FF2B5EF4-FFF2-40B4-BE49-F238E27FC236}">
                <a16:creationId xmlns:a16="http://schemas.microsoft.com/office/drawing/2014/main" id="{93056AE5-D00D-F843-372A-15D970230852}"/>
              </a:ext>
            </a:extLst>
          </p:cNvPr>
          <p:cNvPicPr>
            <a:picLocks noChangeAspect="1"/>
          </p:cNvPicPr>
          <p:nvPr/>
        </p:nvPicPr>
        <p:blipFill>
          <a:blip r:embed="rId4"/>
          <a:srcRect/>
          <a:stretch/>
        </p:blipFill>
        <p:spPr>
          <a:xfrm>
            <a:off x="5901299" y="1949410"/>
            <a:ext cx="5998602" cy="2101009"/>
          </a:xfrm>
          <a:prstGeom prst="rect">
            <a:avLst/>
          </a:prstGeom>
        </p:spPr>
      </p:pic>
    </p:spTree>
    <p:extLst>
      <p:ext uri="{BB962C8B-B14F-4D97-AF65-F5344CB8AC3E}">
        <p14:creationId xmlns:p14="http://schemas.microsoft.com/office/powerpoint/2010/main" val="850321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136BB296-E99B-59B9-4902-36CDCE0BD3A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261466-69D9-6031-C643-45D4F5C85C4C}"/>
              </a:ext>
            </a:extLst>
          </p:cNvPr>
          <p:cNvSpPr txBox="1"/>
          <p:nvPr/>
        </p:nvSpPr>
        <p:spPr>
          <a:xfrm>
            <a:off x="215828" y="246945"/>
            <a:ext cx="11684071" cy="707886"/>
          </a:xfrm>
          <a:prstGeom prst="rect">
            <a:avLst/>
          </a:prstGeom>
          <a:noFill/>
        </p:spPr>
        <p:txBody>
          <a:bodyPr wrap="square">
            <a:spAutoFit/>
          </a:bodyPr>
          <a:lstStyle/>
          <a:p>
            <a:r>
              <a:rPr lang="en-IN" sz="2000" b="1" dirty="0"/>
              <a:t>7. Let's invite the artists who have written the most rock music in our dataset. Write a query that returns the Artist name and total track count of the top 10 rock bands </a:t>
            </a:r>
            <a:endParaRPr lang="en-IN" sz="2000" b="1" dirty="0">
              <a:solidFill>
                <a:schemeClr val="tx1"/>
              </a:solidFill>
            </a:endParaRPr>
          </a:p>
        </p:txBody>
      </p:sp>
      <p:sp>
        <p:nvSpPr>
          <p:cNvPr id="6" name="TextBox 5">
            <a:extLst>
              <a:ext uri="{FF2B5EF4-FFF2-40B4-BE49-F238E27FC236}">
                <a16:creationId xmlns:a16="http://schemas.microsoft.com/office/drawing/2014/main" id="{1150CFCB-0990-E4F3-ACA3-B484D65A98C5}"/>
              </a:ext>
            </a:extLst>
          </p:cNvPr>
          <p:cNvSpPr txBox="1"/>
          <p:nvPr/>
        </p:nvSpPr>
        <p:spPr>
          <a:xfrm>
            <a:off x="606549" y="4766687"/>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3551A1B0-B546-DB6B-C063-C3D74E75CD65}"/>
              </a:ext>
            </a:extLst>
          </p:cNvPr>
          <p:cNvSpPr txBox="1"/>
          <p:nvPr/>
        </p:nvSpPr>
        <p:spPr>
          <a:xfrm>
            <a:off x="1392169" y="103078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A22A6E7C-2EE1-871B-5E1C-2484BF94D195}"/>
              </a:ext>
            </a:extLst>
          </p:cNvPr>
          <p:cNvSpPr txBox="1"/>
          <p:nvPr/>
        </p:nvSpPr>
        <p:spPr>
          <a:xfrm>
            <a:off x="6764055" y="1026836"/>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6810E1F0-BDF2-5337-856D-9A77D70DA6CC}"/>
              </a:ext>
            </a:extLst>
          </p:cNvPr>
          <p:cNvSpPr txBox="1"/>
          <p:nvPr/>
        </p:nvSpPr>
        <p:spPr>
          <a:xfrm>
            <a:off x="720200" y="5247710"/>
            <a:ext cx="10675325" cy="1200329"/>
          </a:xfrm>
          <a:prstGeom prst="rect">
            <a:avLst/>
          </a:prstGeom>
          <a:noFill/>
        </p:spPr>
        <p:txBody>
          <a:bodyPr wrap="square" rtlCol="0">
            <a:spAutoFit/>
          </a:bodyPr>
          <a:lstStyle/>
          <a:p>
            <a:r>
              <a:rPr lang="en-IN" sz="1800" b="1" dirty="0"/>
              <a:t>AC/DC has the highest number of Rock tracks (18), followed by Aerosmith (15) and Audioslave and Led Zeppelin (14 each). This shows that these artists have a strong presence in the Rock genre and are among the most significant contributors to the music store's Rock music collection.</a:t>
            </a:r>
          </a:p>
        </p:txBody>
      </p:sp>
      <p:pic>
        <p:nvPicPr>
          <p:cNvPr id="5" name="Picture 4">
            <a:extLst>
              <a:ext uri="{FF2B5EF4-FFF2-40B4-BE49-F238E27FC236}">
                <a16:creationId xmlns:a16="http://schemas.microsoft.com/office/drawing/2014/main" id="{25115D10-DB3C-86E6-94EF-54C17C92E6DF}"/>
              </a:ext>
            </a:extLst>
          </p:cNvPr>
          <p:cNvPicPr>
            <a:picLocks noChangeAspect="1"/>
          </p:cNvPicPr>
          <p:nvPr/>
        </p:nvPicPr>
        <p:blipFill>
          <a:blip r:embed="rId3"/>
          <a:srcRect/>
          <a:stretch/>
        </p:blipFill>
        <p:spPr>
          <a:xfrm>
            <a:off x="876824" y="1396168"/>
            <a:ext cx="2676857" cy="3156743"/>
          </a:xfrm>
          <a:prstGeom prst="rect">
            <a:avLst/>
          </a:prstGeom>
        </p:spPr>
      </p:pic>
      <p:pic>
        <p:nvPicPr>
          <p:cNvPr id="11" name="Picture 10">
            <a:extLst>
              <a:ext uri="{FF2B5EF4-FFF2-40B4-BE49-F238E27FC236}">
                <a16:creationId xmlns:a16="http://schemas.microsoft.com/office/drawing/2014/main" id="{287B8EB0-181E-C3F9-E828-B864635C5182}"/>
              </a:ext>
            </a:extLst>
          </p:cNvPr>
          <p:cNvPicPr>
            <a:picLocks noChangeAspect="1"/>
          </p:cNvPicPr>
          <p:nvPr/>
        </p:nvPicPr>
        <p:blipFill>
          <a:blip r:embed="rId4"/>
          <a:srcRect/>
          <a:stretch/>
        </p:blipFill>
        <p:spPr>
          <a:xfrm>
            <a:off x="5817211" y="2084046"/>
            <a:ext cx="5788183" cy="2218147"/>
          </a:xfrm>
          <a:prstGeom prst="rect">
            <a:avLst/>
          </a:prstGeom>
        </p:spPr>
      </p:pic>
    </p:spTree>
    <p:extLst>
      <p:ext uri="{BB962C8B-B14F-4D97-AF65-F5344CB8AC3E}">
        <p14:creationId xmlns:p14="http://schemas.microsoft.com/office/powerpoint/2010/main" val="2778620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E5B4CE2-84AD-E443-5E47-D6F06844AC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205B42-94A3-7A2A-2ABF-8D13699E0FAC}"/>
              </a:ext>
            </a:extLst>
          </p:cNvPr>
          <p:cNvSpPr txBox="1"/>
          <p:nvPr/>
        </p:nvSpPr>
        <p:spPr>
          <a:xfrm>
            <a:off x="215828" y="246945"/>
            <a:ext cx="11684071" cy="1015663"/>
          </a:xfrm>
          <a:prstGeom prst="rect">
            <a:avLst/>
          </a:prstGeom>
          <a:noFill/>
        </p:spPr>
        <p:txBody>
          <a:bodyPr wrap="square">
            <a:spAutoFit/>
          </a:bodyPr>
          <a:lstStyle/>
          <a:p>
            <a:r>
              <a:rPr lang="en-IN" sz="2000" b="1" dirty="0"/>
              <a:t>8. Return all the track names that have a song length longer than the average song length.- Return the Name and Milliseconds for each track. Order by the song length, with the longest songs listed first </a:t>
            </a:r>
            <a:endParaRPr lang="en-IN" sz="2000" b="1" dirty="0">
              <a:solidFill>
                <a:schemeClr val="tx1"/>
              </a:solidFill>
            </a:endParaRPr>
          </a:p>
        </p:txBody>
      </p:sp>
      <p:sp>
        <p:nvSpPr>
          <p:cNvPr id="6" name="TextBox 5">
            <a:extLst>
              <a:ext uri="{FF2B5EF4-FFF2-40B4-BE49-F238E27FC236}">
                <a16:creationId xmlns:a16="http://schemas.microsoft.com/office/drawing/2014/main" id="{69353333-95AF-9DDF-E26F-F4A81046D210}"/>
              </a:ext>
            </a:extLst>
          </p:cNvPr>
          <p:cNvSpPr txBox="1"/>
          <p:nvPr/>
        </p:nvSpPr>
        <p:spPr>
          <a:xfrm>
            <a:off x="441449" y="4895815"/>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025A0172-44BC-8787-4CEB-099400A9C20E}"/>
              </a:ext>
            </a:extLst>
          </p:cNvPr>
          <p:cNvSpPr txBox="1"/>
          <p:nvPr/>
        </p:nvSpPr>
        <p:spPr>
          <a:xfrm>
            <a:off x="1354069" y="1352304"/>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3AD2A2BE-679C-2A58-52DD-20CB89B531CE}"/>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7D6ACC99-B531-F8FA-30E8-4127CB1EAD25}"/>
              </a:ext>
            </a:extLst>
          </p:cNvPr>
          <p:cNvSpPr txBox="1"/>
          <p:nvPr/>
        </p:nvSpPr>
        <p:spPr>
          <a:xfrm>
            <a:off x="215829" y="5367215"/>
            <a:ext cx="11684072" cy="923330"/>
          </a:xfrm>
          <a:prstGeom prst="rect">
            <a:avLst/>
          </a:prstGeom>
          <a:noFill/>
        </p:spPr>
        <p:txBody>
          <a:bodyPr wrap="square" rtlCol="0">
            <a:spAutoFit/>
          </a:bodyPr>
          <a:lstStyle/>
          <a:p>
            <a:r>
              <a:rPr lang="en-IN" sz="1800" b="1" dirty="0"/>
              <a:t>Several tracks in the music store are significantly longer than the average song length. The longest track is "How Many More Times" with a duration of 711,836 milliseconds, indicating that the collection includes extended versions and long-form musical compositions preferred by certain listeners.</a:t>
            </a:r>
          </a:p>
        </p:txBody>
      </p:sp>
      <p:pic>
        <p:nvPicPr>
          <p:cNvPr id="12" name="Picture 11">
            <a:extLst>
              <a:ext uri="{FF2B5EF4-FFF2-40B4-BE49-F238E27FC236}">
                <a16:creationId xmlns:a16="http://schemas.microsoft.com/office/drawing/2014/main" id="{95568046-A10D-582D-4E81-EE2709A57916}"/>
              </a:ext>
            </a:extLst>
          </p:cNvPr>
          <p:cNvPicPr>
            <a:picLocks noChangeAspect="1"/>
          </p:cNvPicPr>
          <p:nvPr/>
        </p:nvPicPr>
        <p:blipFill>
          <a:blip r:embed="rId3"/>
          <a:srcRect/>
          <a:stretch/>
        </p:blipFill>
        <p:spPr>
          <a:xfrm>
            <a:off x="742412" y="2125627"/>
            <a:ext cx="3667746" cy="2091835"/>
          </a:xfrm>
          <a:prstGeom prst="rect">
            <a:avLst/>
          </a:prstGeom>
        </p:spPr>
      </p:pic>
      <p:pic>
        <p:nvPicPr>
          <p:cNvPr id="14" name="Picture 13">
            <a:extLst>
              <a:ext uri="{FF2B5EF4-FFF2-40B4-BE49-F238E27FC236}">
                <a16:creationId xmlns:a16="http://schemas.microsoft.com/office/drawing/2014/main" id="{BBF4B780-46B4-2979-009C-3C2E64DE092E}"/>
              </a:ext>
            </a:extLst>
          </p:cNvPr>
          <p:cNvPicPr>
            <a:picLocks noChangeAspect="1"/>
          </p:cNvPicPr>
          <p:nvPr/>
        </p:nvPicPr>
        <p:blipFill>
          <a:blip r:embed="rId4"/>
          <a:srcRect/>
          <a:stretch/>
        </p:blipFill>
        <p:spPr>
          <a:xfrm>
            <a:off x="5773738" y="1964645"/>
            <a:ext cx="5622585" cy="1933882"/>
          </a:xfrm>
          <a:prstGeom prst="rect">
            <a:avLst/>
          </a:prstGeom>
        </p:spPr>
      </p:pic>
    </p:spTree>
    <p:extLst>
      <p:ext uri="{BB962C8B-B14F-4D97-AF65-F5344CB8AC3E}">
        <p14:creationId xmlns:p14="http://schemas.microsoft.com/office/powerpoint/2010/main" val="3390501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AAF15CB-90DE-E5EC-A046-672A69E710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EAC0C3-E5A0-FA0A-4F30-1E0B616E7D91}"/>
              </a:ext>
            </a:extLst>
          </p:cNvPr>
          <p:cNvSpPr txBox="1"/>
          <p:nvPr/>
        </p:nvSpPr>
        <p:spPr>
          <a:xfrm>
            <a:off x="215828" y="246945"/>
            <a:ext cx="11684071" cy="707886"/>
          </a:xfrm>
          <a:prstGeom prst="rect">
            <a:avLst/>
          </a:prstGeom>
          <a:noFill/>
        </p:spPr>
        <p:txBody>
          <a:bodyPr wrap="square">
            <a:spAutoFit/>
          </a:bodyPr>
          <a:lstStyle/>
          <a:p>
            <a:r>
              <a:rPr lang="en-IN" sz="2000" b="1" dirty="0"/>
              <a:t>9. Find how much amount is spent by each customer on artists? Write a query to return customer name, artist name and total spent </a:t>
            </a:r>
            <a:endParaRPr lang="en-IN" sz="2000" b="1" dirty="0">
              <a:solidFill>
                <a:schemeClr val="tx1"/>
              </a:solidFill>
            </a:endParaRPr>
          </a:p>
        </p:txBody>
      </p:sp>
      <p:sp>
        <p:nvSpPr>
          <p:cNvPr id="6" name="TextBox 5">
            <a:extLst>
              <a:ext uri="{FF2B5EF4-FFF2-40B4-BE49-F238E27FC236}">
                <a16:creationId xmlns:a16="http://schemas.microsoft.com/office/drawing/2014/main" id="{2321B304-0535-C28F-1073-452DEC8F1D21}"/>
              </a:ext>
            </a:extLst>
          </p:cNvPr>
          <p:cNvSpPr txBox="1"/>
          <p:nvPr/>
        </p:nvSpPr>
        <p:spPr>
          <a:xfrm>
            <a:off x="215828" y="4896511"/>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296904D3-CD02-A1B9-1054-592917B3FC70}"/>
              </a:ext>
            </a:extLst>
          </p:cNvPr>
          <p:cNvSpPr txBox="1"/>
          <p:nvPr/>
        </p:nvSpPr>
        <p:spPr>
          <a:xfrm>
            <a:off x="1082905" y="909396"/>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1662FD82-1475-6FB7-1A08-51F6BA45C83C}"/>
              </a:ext>
            </a:extLst>
          </p:cNvPr>
          <p:cNvSpPr txBox="1"/>
          <p:nvPr/>
        </p:nvSpPr>
        <p:spPr>
          <a:xfrm>
            <a:off x="7028480" y="909396"/>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D06B64FE-4238-DE09-B6B2-9F368DC6C2C5}"/>
              </a:ext>
            </a:extLst>
          </p:cNvPr>
          <p:cNvSpPr txBox="1"/>
          <p:nvPr/>
        </p:nvSpPr>
        <p:spPr>
          <a:xfrm>
            <a:off x="215829" y="5367215"/>
            <a:ext cx="11684072" cy="1200329"/>
          </a:xfrm>
          <a:prstGeom prst="rect">
            <a:avLst/>
          </a:prstGeom>
          <a:noFill/>
        </p:spPr>
        <p:txBody>
          <a:bodyPr wrap="square" rtlCol="0">
            <a:spAutoFit/>
          </a:bodyPr>
          <a:lstStyle/>
          <a:p>
            <a:r>
              <a:rPr lang="en-IN" sz="1800" b="1" dirty="0"/>
              <a:t>The analysis shows that some customers have strong preferences for specific artists. Steve Murray spent the highest amount (17.82) on AC/DC, while several other customers also spent significantly on artists such as Aerosmith, Audioslave, and Alanis Morissette. This helps identify artist popularity and customer listening preferences</a:t>
            </a:r>
          </a:p>
        </p:txBody>
      </p:sp>
      <p:pic>
        <p:nvPicPr>
          <p:cNvPr id="3" name="Picture 2">
            <a:extLst>
              <a:ext uri="{FF2B5EF4-FFF2-40B4-BE49-F238E27FC236}">
                <a16:creationId xmlns:a16="http://schemas.microsoft.com/office/drawing/2014/main" id="{82C30C03-A7DC-A8A8-9D85-9379A3A77F68}"/>
              </a:ext>
            </a:extLst>
          </p:cNvPr>
          <p:cNvPicPr>
            <a:picLocks noChangeAspect="1"/>
          </p:cNvPicPr>
          <p:nvPr/>
        </p:nvPicPr>
        <p:blipFill>
          <a:blip r:embed="rId3"/>
          <a:srcRect/>
          <a:stretch/>
        </p:blipFill>
        <p:spPr>
          <a:xfrm>
            <a:off x="386694" y="1250870"/>
            <a:ext cx="5541140" cy="3645641"/>
          </a:xfrm>
          <a:prstGeom prst="rect">
            <a:avLst/>
          </a:prstGeom>
        </p:spPr>
      </p:pic>
      <p:pic>
        <p:nvPicPr>
          <p:cNvPr id="7" name="Picture 6">
            <a:extLst>
              <a:ext uri="{FF2B5EF4-FFF2-40B4-BE49-F238E27FC236}">
                <a16:creationId xmlns:a16="http://schemas.microsoft.com/office/drawing/2014/main" id="{CFA9A086-FAE9-41AD-8E4D-5560C60F2EC1}"/>
              </a:ext>
            </a:extLst>
          </p:cNvPr>
          <p:cNvPicPr>
            <a:picLocks noChangeAspect="1"/>
          </p:cNvPicPr>
          <p:nvPr/>
        </p:nvPicPr>
        <p:blipFill>
          <a:blip r:embed="rId4"/>
          <a:srcRect/>
          <a:stretch/>
        </p:blipFill>
        <p:spPr>
          <a:xfrm>
            <a:off x="6109606" y="2038756"/>
            <a:ext cx="5111694" cy="1920636"/>
          </a:xfrm>
          <a:prstGeom prst="rect">
            <a:avLst/>
          </a:prstGeom>
        </p:spPr>
      </p:pic>
    </p:spTree>
    <p:extLst>
      <p:ext uri="{BB962C8B-B14F-4D97-AF65-F5344CB8AC3E}">
        <p14:creationId xmlns:p14="http://schemas.microsoft.com/office/powerpoint/2010/main" val="4231637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2CF965E3-70C2-B185-109B-B1115D9E6B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7526CB-20AD-8B5E-6AF0-42DC0FDC3B7B}"/>
              </a:ext>
            </a:extLst>
          </p:cNvPr>
          <p:cNvSpPr txBox="1"/>
          <p:nvPr/>
        </p:nvSpPr>
        <p:spPr>
          <a:xfrm>
            <a:off x="215828" y="246945"/>
            <a:ext cx="11684071" cy="923330"/>
          </a:xfrm>
          <a:prstGeom prst="rect">
            <a:avLst/>
          </a:prstGeom>
          <a:noFill/>
        </p:spPr>
        <p:txBody>
          <a:bodyPr wrap="square">
            <a:spAutoFit/>
          </a:bodyPr>
          <a:lstStyle/>
          <a:p>
            <a:r>
              <a:rPr lang="en-IN" sz="1800" b="1" dirty="0"/>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a:t>
            </a:r>
            <a:endParaRPr lang="en-IN" sz="1800" b="1" dirty="0">
              <a:solidFill>
                <a:schemeClr val="tx1"/>
              </a:solidFill>
            </a:endParaRPr>
          </a:p>
        </p:txBody>
      </p:sp>
      <p:sp>
        <p:nvSpPr>
          <p:cNvPr id="6" name="TextBox 5">
            <a:extLst>
              <a:ext uri="{FF2B5EF4-FFF2-40B4-BE49-F238E27FC236}">
                <a16:creationId xmlns:a16="http://schemas.microsoft.com/office/drawing/2014/main" id="{C9F16CC1-3EF7-E733-C8CE-DE5011A325F0}"/>
              </a:ext>
            </a:extLst>
          </p:cNvPr>
          <p:cNvSpPr txBox="1"/>
          <p:nvPr/>
        </p:nvSpPr>
        <p:spPr>
          <a:xfrm>
            <a:off x="441449" y="4941806"/>
            <a:ext cx="3217409" cy="369332"/>
          </a:xfrm>
          <a:prstGeom prst="rect">
            <a:avLst/>
          </a:prstGeom>
          <a:noFill/>
        </p:spPr>
        <p:txBody>
          <a:bodyPr wrap="square" rtlCol="0">
            <a:spAutoFit/>
          </a:bodyPr>
          <a:lstStyle/>
          <a:p>
            <a:r>
              <a:rPr lang="en-GB" sz="1800" b="1" dirty="0">
                <a:solidFill>
                  <a:srgbClr val="00B050"/>
                </a:solidFill>
              </a:rPr>
              <a:t>Key Insight :-</a:t>
            </a:r>
            <a:endParaRPr lang="en-IN" sz="1800" b="1" dirty="0">
              <a:solidFill>
                <a:srgbClr val="00B050"/>
              </a:solidFill>
            </a:endParaRPr>
          </a:p>
        </p:txBody>
      </p:sp>
      <p:sp>
        <p:nvSpPr>
          <p:cNvPr id="8" name="TextBox 7">
            <a:extLst>
              <a:ext uri="{FF2B5EF4-FFF2-40B4-BE49-F238E27FC236}">
                <a16:creationId xmlns:a16="http://schemas.microsoft.com/office/drawing/2014/main" id="{D4E8886C-CC2A-D6C5-B418-CCA3CBC0A9A7}"/>
              </a:ext>
            </a:extLst>
          </p:cNvPr>
          <p:cNvSpPr txBox="1"/>
          <p:nvPr/>
        </p:nvSpPr>
        <p:spPr>
          <a:xfrm>
            <a:off x="441449" y="1335897"/>
            <a:ext cx="2304789" cy="369332"/>
          </a:xfrm>
          <a:prstGeom prst="rect">
            <a:avLst/>
          </a:prstGeom>
          <a:noFill/>
        </p:spPr>
        <p:txBody>
          <a:bodyPr wrap="square" rtlCol="0">
            <a:spAutoFit/>
          </a:bodyPr>
          <a:lstStyle/>
          <a:p>
            <a:r>
              <a:rPr lang="en-GB" sz="1800" b="1" dirty="0">
                <a:solidFill>
                  <a:srgbClr val="00B050"/>
                </a:solidFill>
              </a:rPr>
              <a:t>Query :</a:t>
            </a:r>
            <a:endParaRPr lang="en-IN" sz="1800" b="1" dirty="0">
              <a:solidFill>
                <a:srgbClr val="00B050"/>
              </a:solidFill>
            </a:endParaRPr>
          </a:p>
        </p:txBody>
      </p:sp>
      <p:sp>
        <p:nvSpPr>
          <p:cNvPr id="9" name="TextBox 8">
            <a:extLst>
              <a:ext uri="{FF2B5EF4-FFF2-40B4-BE49-F238E27FC236}">
                <a16:creationId xmlns:a16="http://schemas.microsoft.com/office/drawing/2014/main" id="{7F2FAAE3-E2D0-8B6B-5A0C-CF94F3094FDA}"/>
              </a:ext>
            </a:extLst>
          </p:cNvPr>
          <p:cNvSpPr txBox="1"/>
          <p:nvPr/>
        </p:nvSpPr>
        <p:spPr>
          <a:xfrm>
            <a:off x="6878355" y="1352304"/>
            <a:ext cx="2617940" cy="369332"/>
          </a:xfrm>
          <a:prstGeom prst="rect">
            <a:avLst/>
          </a:prstGeom>
          <a:noFill/>
        </p:spPr>
        <p:txBody>
          <a:bodyPr wrap="square" rtlCol="0">
            <a:spAutoFit/>
          </a:bodyPr>
          <a:lstStyle/>
          <a:p>
            <a:r>
              <a:rPr lang="en-GB" sz="1800" b="1" dirty="0">
                <a:solidFill>
                  <a:srgbClr val="00B050"/>
                </a:solidFill>
              </a:rPr>
              <a:t>Output :</a:t>
            </a:r>
            <a:endParaRPr lang="en-IN" sz="1800" b="1" dirty="0">
              <a:solidFill>
                <a:srgbClr val="00B050"/>
              </a:solidFill>
            </a:endParaRPr>
          </a:p>
        </p:txBody>
      </p:sp>
      <p:sp>
        <p:nvSpPr>
          <p:cNvPr id="10" name="TextBox 9">
            <a:extLst>
              <a:ext uri="{FF2B5EF4-FFF2-40B4-BE49-F238E27FC236}">
                <a16:creationId xmlns:a16="http://schemas.microsoft.com/office/drawing/2014/main" id="{46B76416-D179-77C2-1A7C-EA0070878D39}"/>
              </a:ext>
            </a:extLst>
          </p:cNvPr>
          <p:cNvSpPr txBox="1"/>
          <p:nvPr/>
        </p:nvSpPr>
        <p:spPr>
          <a:xfrm>
            <a:off x="215829" y="5367215"/>
            <a:ext cx="11684072" cy="1015663"/>
          </a:xfrm>
          <a:prstGeom prst="rect">
            <a:avLst/>
          </a:prstGeom>
          <a:noFill/>
        </p:spPr>
        <p:txBody>
          <a:bodyPr wrap="square" rtlCol="0">
            <a:spAutoFit/>
          </a:bodyPr>
          <a:lstStyle/>
          <a:p>
            <a:r>
              <a:rPr lang="en-US" sz="2000" dirty="0"/>
              <a:t>The analysis shows that Rock is the most purchased genre in the majority of countries. Understanding genre preferences by country helps the company design region-specific marketing campaigns and improve customer engagement.</a:t>
            </a:r>
            <a:endParaRPr lang="en-IN" sz="2000" b="1" dirty="0"/>
          </a:p>
        </p:txBody>
      </p:sp>
      <p:pic>
        <p:nvPicPr>
          <p:cNvPr id="7" name="Picture 6">
            <a:extLst>
              <a:ext uri="{FF2B5EF4-FFF2-40B4-BE49-F238E27FC236}">
                <a16:creationId xmlns:a16="http://schemas.microsoft.com/office/drawing/2014/main" id="{29458967-ADA6-1A4E-3E2D-1E8D2790BBBD}"/>
              </a:ext>
            </a:extLst>
          </p:cNvPr>
          <p:cNvPicPr>
            <a:picLocks noChangeAspect="1"/>
          </p:cNvPicPr>
          <p:nvPr/>
        </p:nvPicPr>
        <p:blipFill>
          <a:blip r:embed="rId3"/>
          <a:srcRect/>
          <a:stretch/>
        </p:blipFill>
        <p:spPr>
          <a:xfrm>
            <a:off x="1590018" y="1226352"/>
            <a:ext cx="3518010" cy="3783192"/>
          </a:xfrm>
          <a:prstGeom prst="rect">
            <a:avLst/>
          </a:prstGeom>
        </p:spPr>
      </p:pic>
      <p:pic>
        <p:nvPicPr>
          <p:cNvPr id="13" name="Picture 12">
            <a:extLst>
              <a:ext uri="{FF2B5EF4-FFF2-40B4-BE49-F238E27FC236}">
                <a16:creationId xmlns:a16="http://schemas.microsoft.com/office/drawing/2014/main" id="{BF10669D-633B-ADD4-ED2F-FF2758097EDE}"/>
              </a:ext>
            </a:extLst>
          </p:cNvPr>
          <p:cNvPicPr>
            <a:picLocks noChangeAspect="1"/>
          </p:cNvPicPr>
          <p:nvPr/>
        </p:nvPicPr>
        <p:blipFill>
          <a:blip r:embed="rId4"/>
          <a:stretch>
            <a:fillRect/>
          </a:stretch>
        </p:blipFill>
        <p:spPr>
          <a:xfrm>
            <a:off x="5995119" y="1777713"/>
            <a:ext cx="4972306" cy="3050023"/>
          </a:xfrm>
          <a:prstGeom prst="rect">
            <a:avLst/>
          </a:prstGeom>
        </p:spPr>
      </p:pic>
    </p:spTree>
    <p:extLst>
      <p:ext uri="{BB962C8B-B14F-4D97-AF65-F5344CB8AC3E}">
        <p14:creationId xmlns:p14="http://schemas.microsoft.com/office/powerpoint/2010/main" val="159045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B45A6B-75D7-25B6-8586-7FBF598EA718}"/>
              </a:ext>
            </a:extLst>
          </p:cNvPr>
          <p:cNvSpPr txBox="1"/>
          <p:nvPr/>
        </p:nvSpPr>
        <p:spPr>
          <a:xfrm>
            <a:off x="503582" y="1836052"/>
            <a:ext cx="8501270" cy="3970318"/>
          </a:xfrm>
          <a:prstGeom prst="rect">
            <a:avLst/>
          </a:prstGeom>
          <a:noFill/>
        </p:spPr>
        <p:txBody>
          <a:bodyPr wrap="square">
            <a:spAutoFit/>
          </a:bodyPr>
          <a:lstStyle/>
          <a:p>
            <a:pPr marL="342900" lvl="0" indent="-342900">
              <a:buFont typeface="Arial" panose="020B0604020202020204" pitchFamily="34" charset="0"/>
              <a:buChar char="•"/>
            </a:pPr>
            <a:r>
              <a:rPr lang="en-IN" sz="2800" dirty="0"/>
              <a:t>Identified the top customers.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Found the most popular music genre.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Identified high-revenue countries and cities.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err="1"/>
              <a:t>Analyzed</a:t>
            </a:r>
            <a:r>
              <a:rPr lang="en-IN" sz="2800" dirty="0"/>
              <a:t> customer purchasing </a:t>
            </a:r>
            <a:r>
              <a:rPr lang="en-IN" sz="2800" dirty="0" err="1"/>
              <a:t>behavior</a:t>
            </a:r>
            <a:r>
              <a:rPr lang="en-IN" sz="2800" dirty="0"/>
              <a:t>.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Generated insights for better business decisions</a:t>
            </a:r>
          </a:p>
        </p:txBody>
      </p:sp>
      <p:sp>
        <p:nvSpPr>
          <p:cNvPr id="5" name="TextBox 4">
            <a:extLst>
              <a:ext uri="{FF2B5EF4-FFF2-40B4-BE49-F238E27FC236}">
                <a16:creationId xmlns:a16="http://schemas.microsoft.com/office/drawing/2014/main" id="{EEA69F78-BF57-960D-1B16-EAB8D70A1257}"/>
              </a:ext>
            </a:extLst>
          </p:cNvPr>
          <p:cNvSpPr txBox="1"/>
          <p:nvPr/>
        </p:nvSpPr>
        <p:spPr>
          <a:xfrm>
            <a:off x="503582" y="615435"/>
            <a:ext cx="6096000" cy="707886"/>
          </a:xfrm>
          <a:prstGeom prst="rect">
            <a:avLst/>
          </a:prstGeom>
          <a:noFill/>
        </p:spPr>
        <p:txBody>
          <a:bodyPr wrap="square">
            <a:spAutoFit/>
          </a:bodyPr>
          <a:lstStyle/>
          <a:p>
            <a:pPr>
              <a:buNone/>
            </a:pPr>
            <a:r>
              <a:rPr lang="en-IN" sz="4000" b="1" dirty="0">
                <a:solidFill>
                  <a:srgbClr val="FF0000"/>
                </a:solidFill>
              </a:rPr>
              <a:t>Business Insights:</a:t>
            </a:r>
          </a:p>
        </p:txBody>
      </p:sp>
    </p:spTree>
    <p:extLst>
      <p:ext uri="{BB962C8B-B14F-4D97-AF65-F5344CB8AC3E}">
        <p14:creationId xmlns:p14="http://schemas.microsoft.com/office/powerpoint/2010/main" val="2137298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91E53DA-8BDC-C841-FBC6-95314536EB9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C974753-77D8-DBBB-6A1F-B62407F25110}"/>
              </a:ext>
            </a:extLst>
          </p:cNvPr>
          <p:cNvSpPr>
            <a:spLocks noChangeArrowheads="1"/>
          </p:cNvSpPr>
          <p:nvPr/>
        </p:nvSpPr>
        <p:spPr bwMode="auto">
          <a:xfrm rot="10800000" flipV="1">
            <a:off x="738511" y="1473547"/>
            <a:ext cx="1053607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800" dirty="0"/>
              <a:t>Successfully </a:t>
            </a:r>
            <a:r>
              <a:rPr lang="en-IN" sz="2800" dirty="0" err="1"/>
              <a:t>analyzed</a:t>
            </a:r>
            <a:r>
              <a:rPr lang="en-IN" sz="2800" dirty="0"/>
              <a:t> the Music Store database using SQL.</a:t>
            </a:r>
          </a:p>
          <a:p>
            <a:pPr lvl="0"/>
            <a:r>
              <a:rPr lang="en-IN" sz="2800" dirty="0"/>
              <a:t> </a:t>
            </a:r>
          </a:p>
          <a:p>
            <a:pPr marL="342900" lvl="0" indent="-342900">
              <a:buFont typeface="Arial" panose="020B0604020202020204" pitchFamily="34" charset="0"/>
              <a:buChar char="•"/>
            </a:pPr>
            <a:r>
              <a:rPr lang="en-IN" sz="2800" dirty="0"/>
              <a:t>Identified customer </a:t>
            </a:r>
            <a:r>
              <a:rPr lang="en-IN" sz="2800" dirty="0" err="1"/>
              <a:t>behavior</a:t>
            </a:r>
            <a:r>
              <a:rPr lang="en-IN" sz="2800" dirty="0"/>
              <a:t> and sales trends.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Found top customers, popular genres, and high-revenue locations.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Generated meaningful business insights. </a:t>
            </a:r>
          </a:p>
          <a:p>
            <a:pPr marL="342900" lvl="0" indent="-342900">
              <a:buFont typeface="Arial" panose="020B0604020202020204" pitchFamily="34" charset="0"/>
              <a:buChar char="•"/>
            </a:pPr>
            <a:endParaRPr lang="en-IN" sz="2800" dirty="0"/>
          </a:p>
          <a:p>
            <a:pPr marL="342900" lvl="0" indent="-342900">
              <a:buFont typeface="Arial" panose="020B0604020202020204" pitchFamily="34" charset="0"/>
              <a:buChar char="•"/>
            </a:pPr>
            <a:r>
              <a:rPr lang="en-IN" sz="2800" dirty="0"/>
              <a:t>Supported better business decisions and business growth.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EF7DF0F4-220E-ABCF-3329-EFFC46BB5F3E}"/>
              </a:ext>
            </a:extLst>
          </p:cNvPr>
          <p:cNvSpPr txBox="1"/>
          <p:nvPr/>
        </p:nvSpPr>
        <p:spPr>
          <a:xfrm>
            <a:off x="738511" y="552361"/>
            <a:ext cx="3907810" cy="707886"/>
          </a:xfrm>
          <a:prstGeom prst="rect">
            <a:avLst/>
          </a:prstGeom>
          <a:noFill/>
        </p:spPr>
        <p:txBody>
          <a:bodyPr wrap="square" rtlCol="0">
            <a:spAutoFit/>
          </a:bodyPr>
          <a:lstStyle/>
          <a:p>
            <a:r>
              <a:rPr lang="en-GB" sz="4000" b="1" dirty="0">
                <a:solidFill>
                  <a:srgbClr val="FF0000"/>
                </a:solidFill>
              </a:rPr>
              <a:t>Conclusion:</a:t>
            </a:r>
            <a:endParaRPr lang="en-IN" sz="4000" b="1" dirty="0">
              <a:solidFill>
                <a:srgbClr val="FF0000"/>
              </a:solidFill>
            </a:endParaRPr>
          </a:p>
        </p:txBody>
      </p:sp>
    </p:spTree>
    <p:extLst>
      <p:ext uri="{BB962C8B-B14F-4D97-AF65-F5344CB8AC3E}">
        <p14:creationId xmlns:p14="http://schemas.microsoft.com/office/powerpoint/2010/main" val="260699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42D5191-D6DD-1E4F-CDB3-38DE5971DDB3}"/>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AE37E6BF-0865-B028-48CE-1B5A0C3010A7}"/>
              </a:ext>
            </a:extLst>
          </p:cNvPr>
          <p:cNvSpPr>
            <a:spLocks noChangeArrowheads="1"/>
          </p:cNvSpPr>
          <p:nvPr/>
        </p:nvSpPr>
        <p:spPr bwMode="auto">
          <a:xfrm>
            <a:off x="841611" y="1720841"/>
            <a:ext cx="1050877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buFont typeface="Arial" panose="020B0604020202020204" pitchFamily="34" charset="0"/>
              <a:buChar char="•"/>
            </a:pPr>
            <a:r>
              <a:rPr lang="en-IN" sz="2400" dirty="0"/>
              <a:t>Improved our SQL query writing skills.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Learned to use </a:t>
            </a:r>
            <a:r>
              <a:rPr lang="en-IN" sz="2400" b="1" dirty="0"/>
              <a:t>JOINs, GROUP BY, CTEs, and Window Functions</a:t>
            </a:r>
            <a:r>
              <a:rPr lang="en-IN" sz="2400" dirty="0"/>
              <a:t>.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Faced challenges in writing complex SQL queries.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Debugged errors and optimized queries. </a:t>
            </a:r>
          </a:p>
          <a:p>
            <a:pPr marL="342900" lvl="0" indent="-342900">
              <a:buFont typeface="Arial" panose="020B0604020202020204" pitchFamily="34" charset="0"/>
              <a:buChar char="•"/>
            </a:pPr>
            <a:endParaRPr lang="en-IN" sz="2400" dirty="0"/>
          </a:p>
          <a:p>
            <a:pPr marL="342900" lvl="0" indent="-342900">
              <a:buFont typeface="Arial" panose="020B0604020202020204" pitchFamily="34" charset="0"/>
              <a:buChar char="•"/>
            </a:pPr>
            <a:r>
              <a:rPr lang="en-IN" sz="2400" dirty="0"/>
              <a:t>Gained practical experience in solving real-world business problems. </a:t>
            </a:r>
          </a:p>
        </p:txBody>
      </p:sp>
      <p:sp>
        <p:nvSpPr>
          <p:cNvPr id="5" name="TextBox 4">
            <a:extLst>
              <a:ext uri="{FF2B5EF4-FFF2-40B4-BE49-F238E27FC236}">
                <a16:creationId xmlns:a16="http://schemas.microsoft.com/office/drawing/2014/main" id="{23F8D548-850A-A001-A836-55B1B47A8798}"/>
              </a:ext>
            </a:extLst>
          </p:cNvPr>
          <p:cNvSpPr txBox="1"/>
          <p:nvPr/>
        </p:nvSpPr>
        <p:spPr>
          <a:xfrm>
            <a:off x="636895" y="383964"/>
            <a:ext cx="7892956" cy="584775"/>
          </a:xfrm>
          <a:prstGeom prst="rect">
            <a:avLst/>
          </a:prstGeom>
          <a:noFill/>
        </p:spPr>
        <p:txBody>
          <a:bodyPr wrap="square" rtlCol="0">
            <a:spAutoFit/>
          </a:bodyPr>
          <a:lstStyle/>
          <a:p>
            <a:r>
              <a:rPr lang="en-IN" sz="3200" b="1" dirty="0">
                <a:solidFill>
                  <a:srgbClr val="FF0000"/>
                </a:solidFill>
              </a:rPr>
              <a:t>Our Experience / Challenges Working</a:t>
            </a:r>
          </a:p>
        </p:txBody>
      </p:sp>
    </p:spTree>
    <p:extLst>
      <p:ext uri="{BB962C8B-B14F-4D97-AF65-F5344CB8AC3E}">
        <p14:creationId xmlns:p14="http://schemas.microsoft.com/office/powerpoint/2010/main" val="1455245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81757" y="1861900"/>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1713</TotalTime>
  <Words>1130</Words>
  <Application>Microsoft Office PowerPoint</Application>
  <PresentationFormat>Widescreen</PresentationFormat>
  <Paragraphs>116</Paragraphs>
  <Slides>21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Libre Baskerville</vt:lpstr>
      <vt:lpstr>Arial</vt:lpstr>
      <vt:lpstr>Lato Black</vt:lpstr>
      <vt:lpstr>Office Theme</vt:lpstr>
      <vt:lpstr>PowerPoint Presentation</vt:lpstr>
      <vt:lpstr>PowerPoint Presentation</vt:lpstr>
      <vt:lpstr>Agenda:</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naga praneeth</cp:lastModifiedBy>
  <cp:revision>27</cp:revision>
  <dcterms:created xsi:type="dcterms:W3CDTF">2021-02-16T05:19:01Z</dcterms:created>
  <dcterms:modified xsi:type="dcterms:W3CDTF">2026-08-25T08:38:52Z</dcterms:modified>
</cp:coreProperties>
</file>